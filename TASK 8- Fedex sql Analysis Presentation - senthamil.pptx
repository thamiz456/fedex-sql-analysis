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6858000" cy="9144000"/>
  <p:embeddedFontLst>
    <p:embeddedFont>
      <p:font typeface="Canva Sans" panose="020B0604020202020204" charset="0"/>
      <p:regular r:id="rId31"/>
    </p:embeddedFont>
    <p:embeddedFont>
      <p:font typeface="Poppins" panose="00000500000000000000" pitchFamily="2" charset="0"/>
      <p:regular r:id="rId32"/>
    </p:embeddedFont>
    <p:embeddedFont>
      <p:font typeface="Roboto Mono" panose="00000009000000000000" pitchFamily="49" charset="0"/>
      <p:regular r:id="rId33"/>
    </p:embeddedFont>
    <p:embeddedFont>
      <p:font typeface="Roboto Mono Bold" panose="020B0604020202020204" charset="0"/>
      <p:regular r:id="rId34"/>
    </p:embeddedFont>
    <p:embeddedFont>
      <p:font typeface="Zen Dots" panose="020B0604020202020204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om.com/share/826878afcc0e4c3ca6d683564cca8834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rive.google.com/drive/folders/1Bs_z987uwP_C3vvMrSDLIv8t4K5bX7K4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0E8FF">
                    <a:alpha val="21000"/>
                  </a:srgbClr>
                </a:gs>
                <a:gs pos="100000">
                  <a:srgbClr val="0076E4">
                    <a:alpha val="21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683" y="8732575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6112178" y="1028700"/>
            <a:ext cx="6063645" cy="2579562"/>
          </a:xfrm>
          <a:custGeom>
            <a:avLst/>
            <a:gdLst/>
            <a:ahLst/>
            <a:cxnLst/>
            <a:rect l="l" t="t" r="r" b="b"/>
            <a:pathLst>
              <a:path w="6063645" h="2579562">
                <a:moveTo>
                  <a:pt x="0" y="0"/>
                </a:moveTo>
                <a:lnTo>
                  <a:pt x="6063644" y="0"/>
                </a:lnTo>
                <a:lnTo>
                  <a:pt x="6063644" y="2579562"/>
                </a:lnTo>
                <a:lnTo>
                  <a:pt x="0" y="2579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71242" y="3798762"/>
            <a:ext cx="11145516" cy="2820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10"/>
              </a:lnSpc>
            </a:pPr>
            <a:r>
              <a:rPr lang="en-US" sz="7752" dirty="0">
                <a:solidFill>
                  <a:srgbClr val="2F509F"/>
                </a:solidFill>
                <a:latin typeface="Zen Dots"/>
                <a:ea typeface="Zen Dots"/>
                <a:cs typeface="Zen Dots"/>
                <a:sym typeface="Zen Dots"/>
              </a:rPr>
              <a:t>LOGISTIC OPTIMIZATION  USING SQL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0873" y="9046346"/>
            <a:ext cx="4747340" cy="45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47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SENTHAMIL SELVAN 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544133" y="9046346"/>
            <a:ext cx="4747340" cy="45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61"/>
              </a:lnSpc>
            </a:pPr>
            <a:r>
              <a:rPr lang="en-US" sz="24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ANALYST,INTERNSHALA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A37DC7BE-DC2F-8979-2F92-31848A1D314A}"/>
              </a:ext>
            </a:extLst>
          </p:cNvPr>
          <p:cNvSpPr txBox="1"/>
          <p:nvPr/>
        </p:nvSpPr>
        <p:spPr>
          <a:xfrm>
            <a:off x="7620000" y="6701286"/>
            <a:ext cx="11430000" cy="425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1"/>
              </a:lnSpc>
            </a:pPr>
            <a:r>
              <a:rPr lang="en-US" sz="247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PRESENTATION LINK</a:t>
            </a:r>
            <a:endParaRPr lang="en-US" sz="2472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F1BADA57-2299-AA73-DE08-7DE962B07D9E}"/>
              </a:ext>
            </a:extLst>
          </p:cNvPr>
          <p:cNvSpPr txBox="1"/>
          <p:nvPr/>
        </p:nvSpPr>
        <p:spPr>
          <a:xfrm>
            <a:off x="7238988" y="7463394"/>
            <a:ext cx="11430000" cy="425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1"/>
              </a:lnSpc>
            </a:pPr>
            <a:r>
              <a:rPr lang="en-US" sz="247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ALL TASKS OUTPUT LINK</a:t>
            </a:r>
            <a:endParaRPr lang="en-US" sz="2472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640">
                <a:alpha val="100000"/>
              </a:srgbClr>
            </a:gs>
            <a:gs pos="100000">
              <a:srgbClr val="02007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59777" y="2250773"/>
            <a:ext cx="3086100" cy="5446038"/>
            <a:chOff x="0" y="0"/>
            <a:chExt cx="812800" cy="14343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434347"/>
            </a:xfrm>
            <a:custGeom>
              <a:avLst/>
              <a:gdLst/>
              <a:ahLst/>
              <a:cxnLst/>
              <a:rect l="l" t="t" r="r" b="b"/>
              <a:pathLst>
                <a:path w="812800" h="1434347">
                  <a:moveTo>
                    <a:pt x="0" y="0"/>
                  </a:moveTo>
                  <a:lnTo>
                    <a:pt x="812800" y="0"/>
                  </a:lnTo>
                  <a:lnTo>
                    <a:pt x="812800" y="1434347"/>
                  </a:lnTo>
                  <a:lnTo>
                    <a:pt x="0" y="1434347"/>
                  </a:lnTo>
                  <a:close/>
                </a:path>
              </a:pathLst>
            </a:custGeom>
            <a:gradFill rotWithShape="1">
              <a:gsLst>
                <a:gs pos="0">
                  <a:srgbClr val="00E8FF">
                    <a:alpha val="100000"/>
                  </a:srgbClr>
                </a:gs>
                <a:gs pos="100000">
                  <a:srgbClr val="0076E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812800" cy="14914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08355" y="2400299"/>
            <a:ext cx="4940046" cy="5296511"/>
            <a:chOff x="0" y="0"/>
            <a:chExt cx="778261" cy="9156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78261" cy="915602"/>
            </a:xfrm>
            <a:custGeom>
              <a:avLst/>
              <a:gdLst/>
              <a:ahLst/>
              <a:cxnLst/>
              <a:rect l="l" t="t" r="r" b="b"/>
              <a:pathLst>
                <a:path w="778261" h="915602">
                  <a:moveTo>
                    <a:pt x="0" y="0"/>
                  </a:moveTo>
                  <a:lnTo>
                    <a:pt x="778261" y="0"/>
                  </a:lnTo>
                  <a:lnTo>
                    <a:pt x="778261" y="915602"/>
                  </a:lnTo>
                  <a:lnTo>
                    <a:pt x="0" y="915602"/>
                  </a:lnTo>
                  <a:close/>
                </a:path>
              </a:pathLst>
            </a:custGeom>
            <a:blipFill>
              <a:blip r:embed="rId2"/>
              <a:stretch>
                <a:fillRect l="-28431" r="-28431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 rot="8831280">
            <a:off x="-2149749" y="2740944"/>
            <a:ext cx="4001809" cy="4001809"/>
          </a:xfrm>
          <a:custGeom>
            <a:avLst/>
            <a:gdLst/>
            <a:ahLst/>
            <a:cxnLst/>
            <a:rect l="l" t="t" r="r" b="b"/>
            <a:pathLst>
              <a:path w="4001809" h="4001809">
                <a:moveTo>
                  <a:pt x="0" y="0"/>
                </a:moveTo>
                <a:lnTo>
                  <a:pt x="4001809" y="0"/>
                </a:lnTo>
                <a:lnTo>
                  <a:pt x="4001809" y="4001809"/>
                </a:lnTo>
                <a:lnTo>
                  <a:pt x="0" y="4001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 rot="-1886788">
            <a:off x="16349986" y="3775189"/>
            <a:ext cx="4464076" cy="4464076"/>
          </a:xfrm>
          <a:custGeom>
            <a:avLst/>
            <a:gdLst/>
            <a:ahLst/>
            <a:cxnLst/>
            <a:rect l="l" t="t" r="r" b="b"/>
            <a:pathLst>
              <a:path w="4464076" h="4464076">
                <a:moveTo>
                  <a:pt x="0" y="0"/>
                </a:moveTo>
                <a:lnTo>
                  <a:pt x="4464076" y="0"/>
                </a:lnTo>
                <a:lnTo>
                  <a:pt x="4464076" y="4464076"/>
                </a:lnTo>
                <a:lnTo>
                  <a:pt x="0" y="4464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588852" y="2109273"/>
            <a:ext cx="8188898" cy="1311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BUSINESS UNDERSTANDING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50793" y="3455030"/>
            <a:ext cx="9808490" cy="3368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76"/>
              </a:lnSpc>
            </a:pPr>
            <a:r>
              <a:rPr lang="en-US" sz="2463" spc="-6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FedEx wants to improve its logistics operations by analyzing shipment delays, route efficiency, warehouse utilization, and agent performance.</a:t>
            </a:r>
          </a:p>
          <a:p>
            <a:pPr algn="just">
              <a:lnSpc>
                <a:spcPts val="3276"/>
              </a:lnSpc>
            </a:pPr>
            <a:r>
              <a:rPr lang="en-US" sz="2463" spc="-6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The goal of this project is to:</a:t>
            </a:r>
          </a:p>
          <a:p>
            <a:pPr marL="531852" lvl="1" indent="-265926" algn="just">
              <a:lnSpc>
                <a:spcPts val="3276"/>
              </a:lnSpc>
              <a:buFont typeface="Arial"/>
              <a:buChar char="•"/>
            </a:pPr>
            <a:r>
              <a:rPr lang="en-US" sz="2463" spc="-6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Understand performance across routes, warehouses, agents</a:t>
            </a:r>
          </a:p>
          <a:p>
            <a:pPr marL="531852" lvl="1" indent="-265926" algn="just">
              <a:lnSpc>
                <a:spcPts val="3276"/>
              </a:lnSpc>
              <a:buFont typeface="Arial"/>
              <a:buChar char="•"/>
            </a:pPr>
            <a:r>
              <a:rPr lang="en-US" sz="2463" spc="-6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Optimize delivery performance</a:t>
            </a:r>
          </a:p>
          <a:p>
            <a:pPr marL="531852" lvl="1" indent="-265926" algn="just">
              <a:lnSpc>
                <a:spcPts val="3276"/>
              </a:lnSpc>
              <a:buFont typeface="Arial"/>
              <a:buChar char="•"/>
            </a:pPr>
            <a:r>
              <a:rPr lang="en-US" sz="2463" spc="-6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 actionable insights using SQL queries</a:t>
            </a:r>
          </a:p>
          <a:p>
            <a:pPr algn="just">
              <a:lnSpc>
                <a:spcPts val="3276"/>
              </a:lnSpc>
            </a:pPr>
            <a:endParaRPr lang="en-US" sz="2463" spc="-68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20070">
                <a:alpha val="100000"/>
              </a:srgbClr>
            </a:gs>
            <a:gs pos="100000">
              <a:srgbClr val="000640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9667936" y="2933700"/>
            <a:ext cx="3086100" cy="5269946"/>
            <a:chOff x="0" y="0"/>
            <a:chExt cx="812800" cy="13879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1387969"/>
            </a:xfrm>
            <a:custGeom>
              <a:avLst/>
              <a:gdLst/>
              <a:ahLst/>
              <a:cxnLst/>
              <a:rect l="l" t="t" r="r" b="b"/>
              <a:pathLst>
                <a:path w="812800" h="1387969">
                  <a:moveTo>
                    <a:pt x="0" y="0"/>
                  </a:moveTo>
                  <a:lnTo>
                    <a:pt x="812800" y="0"/>
                  </a:lnTo>
                  <a:lnTo>
                    <a:pt x="812800" y="1387969"/>
                  </a:lnTo>
                  <a:lnTo>
                    <a:pt x="0" y="1387969"/>
                  </a:lnTo>
                  <a:close/>
                </a:path>
              </a:pathLst>
            </a:custGeom>
            <a:gradFill rotWithShape="1">
              <a:gsLst>
                <a:gs pos="0">
                  <a:srgbClr val="00E8FF">
                    <a:alpha val="100000"/>
                  </a:srgbClr>
                </a:gs>
                <a:gs pos="100000">
                  <a:srgbClr val="0076E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812800" cy="1445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324943" y="2260422"/>
            <a:ext cx="6934340" cy="5718833"/>
            <a:chOff x="0" y="0"/>
            <a:chExt cx="1074311" cy="8859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4311" cy="885997"/>
            </a:xfrm>
            <a:custGeom>
              <a:avLst/>
              <a:gdLst/>
              <a:ahLst/>
              <a:cxnLst/>
              <a:rect l="l" t="t" r="r" b="b"/>
              <a:pathLst>
                <a:path w="1074311" h="885997">
                  <a:moveTo>
                    <a:pt x="0" y="0"/>
                  </a:moveTo>
                  <a:lnTo>
                    <a:pt x="1074311" y="0"/>
                  </a:lnTo>
                  <a:lnTo>
                    <a:pt x="1074311" y="885997"/>
                  </a:lnTo>
                  <a:lnTo>
                    <a:pt x="0" y="885997"/>
                  </a:lnTo>
                  <a:close/>
                </a:path>
              </a:pathLst>
            </a:custGeom>
            <a:blipFill>
              <a:blip r:embed="rId2"/>
              <a:stretch>
                <a:fillRect l="-15976" r="-15976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-3306817" y="1295381"/>
            <a:ext cx="4335517" cy="4114800"/>
          </a:xfrm>
          <a:custGeom>
            <a:avLst/>
            <a:gdLst/>
            <a:ahLst/>
            <a:cxnLst/>
            <a:rect l="l" t="t" r="r" b="b"/>
            <a:pathLst>
              <a:path w="4335517" h="4114800">
                <a:moveTo>
                  <a:pt x="0" y="0"/>
                </a:moveTo>
                <a:lnTo>
                  <a:pt x="4335517" y="0"/>
                </a:lnTo>
                <a:lnTo>
                  <a:pt x="43355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24817" y="992327"/>
            <a:ext cx="8188898" cy="68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DATA SETS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CA3A3C-0406-F43C-7FFC-898D91EACB48}"/>
              </a:ext>
            </a:extLst>
          </p:cNvPr>
          <p:cNvSpPr txBox="1"/>
          <p:nvPr/>
        </p:nvSpPr>
        <p:spPr>
          <a:xfrm>
            <a:off x="1905000" y="2745852"/>
            <a:ext cx="5791200" cy="259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276"/>
              </a:lnSpc>
            </a:pPr>
            <a:r>
              <a:rPr lang="en-US" sz="1800" spc="-6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analysis uses 5 datasets: </a:t>
            </a:r>
          </a:p>
          <a:p>
            <a:pPr algn="just">
              <a:lnSpc>
                <a:spcPts val="3276"/>
              </a:lnSpc>
            </a:pPr>
            <a:r>
              <a:rPr lang="en-US" sz="1800" spc="-6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Warehouses, </a:t>
            </a:r>
          </a:p>
          <a:p>
            <a:pPr algn="just">
              <a:lnSpc>
                <a:spcPts val="3276"/>
              </a:lnSpc>
            </a:pPr>
            <a:r>
              <a:rPr lang="en-US" sz="1800" spc="-6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Shipments,</a:t>
            </a:r>
          </a:p>
          <a:p>
            <a:pPr algn="just">
              <a:lnSpc>
                <a:spcPts val="3276"/>
              </a:lnSpc>
            </a:pPr>
            <a:r>
              <a:rPr lang="en-US" sz="1800" spc="-6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Routes,</a:t>
            </a:r>
          </a:p>
          <a:p>
            <a:pPr algn="just">
              <a:lnSpc>
                <a:spcPts val="3276"/>
              </a:lnSpc>
            </a:pPr>
            <a:r>
              <a:rPr lang="en-US" sz="1800" spc="-6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Orders,</a:t>
            </a:r>
          </a:p>
          <a:p>
            <a:pPr algn="just">
              <a:lnSpc>
                <a:spcPts val="3276"/>
              </a:lnSpc>
            </a:pPr>
            <a:r>
              <a:rPr lang="en-US" sz="1800" spc="-6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Delivery Agents.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640">
                <a:alpha val="100000"/>
              </a:srgbClr>
            </a:gs>
            <a:gs pos="100000">
              <a:srgbClr val="020070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574299"/>
            <a:ext cx="2909073" cy="3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Steps Performed</a:t>
            </a:r>
          </a:p>
        </p:txBody>
      </p:sp>
      <p:sp>
        <p:nvSpPr>
          <p:cNvPr id="3" name="Freeform 3"/>
          <p:cNvSpPr/>
          <p:nvPr/>
        </p:nvSpPr>
        <p:spPr>
          <a:xfrm>
            <a:off x="11529929" y="2804550"/>
            <a:ext cx="6145566" cy="5832701"/>
          </a:xfrm>
          <a:custGeom>
            <a:avLst/>
            <a:gdLst/>
            <a:ahLst/>
            <a:cxnLst/>
            <a:rect l="l" t="t" r="r" b="b"/>
            <a:pathLst>
              <a:path w="6145566" h="5832701">
                <a:moveTo>
                  <a:pt x="0" y="0"/>
                </a:moveTo>
                <a:lnTo>
                  <a:pt x="6145566" y="0"/>
                </a:lnTo>
                <a:lnTo>
                  <a:pt x="6145566" y="5832701"/>
                </a:lnTo>
                <a:lnTo>
                  <a:pt x="0" y="5832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013255"/>
            <a:ext cx="9793779" cy="1311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DATA CLEANING AND PRE-PROCESSING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169894"/>
            <a:ext cx="10056607" cy="4775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245" lvl="1" indent="-264623" algn="l">
              <a:lnSpc>
                <a:spcPts val="3431"/>
              </a:lnSpc>
              <a:buFont typeface="Arial"/>
              <a:buChar char="•"/>
            </a:pPr>
            <a:r>
              <a:rPr lang="en-US" sz="2451" spc="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Checked for duplicate in shipments, orders,</a:t>
            </a:r>
          </a:p>
          <a:p>
            <a:pPr marL="529245" lvl="1" indent="-264623" algn="l">
              <a:lnSpc>
                <a:spcPts val="3431"/>
              </a:lnSpc>
              <a:buFont typeface="Arial"/>
              <a:buChar char="•"/>
            </a:pPr>
            <a:r>
              <a:rPr lang="en-US" sz="2451" spc="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COUNT(*) - COUNT(DISTINCT </a:t>
            </a:r>
            <a:r>
              <a:rPr lang="en-US" sz="2451" spc="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column_name</a:t>
            </a:r>
            <a:r>
              <a:rPr lang="en-US" sz="2451" spc="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)...</a:t>
            </a:r>
          </a:p>
          <a:p>
            <a:pPr marL="529245" lvl="1" indent="-264623" algn="l">
              <a:lnSpc>
                <a:spcPts val="3431"/>
              </a:lnSpc>
              <a:buFont typeface="Arial"/>
              <a:buChar char="•"/>
            </a:pPr>
            <a:r>
              <a:rPr lang="en-US" sz="2451" spc="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major duplicate issues found (or mention if duplicates existed and were removed).</a:t>
            </a:r>
          </a:p>
          <a:p>
            <a:pPr marL="529245" lvl="1" indent="-264623" algn="l">
              <a:lnSpc>
                <a:spcPts val="3431"/>
              </a:lnSpc>
              <a:buFont typeface="Arial"/>
              <a:buChar char="•"/>
            </a:pPr>
            <a:r>
              <a:rPr lang="en-US" sz="2451" spc="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types has been checked for pickup time and delivery time</a:t>
            </a:r>
          </a:p>
          <a:p>
            <a:pPr marL="529245" lvl="1" indent="-264623" algn="l">
              <a:lnSpc>
                <a:spcPts val="3431"/>
              </a:lnSpc>
              <a:buFont typeface="Arial"/>
              <a:buChar char="•"/>
            </a:pPr>
            <a:r>
              <a:rPr lang="en-US" sz="2451" spc="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checked for NULL values in delay reasons, delivery status, </a:t>
            </a:r>
            <a:r>
              <a:rPr lang="en-US" sz="2451" spc="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agent_id</a:t>
            </a:r>
            <a:r>
              <a:rPr lang="en-US" sz="2451" spc="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51" spc="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warehouse_id</a:t>
            </a:r>
            <a:endParaRPr lang="en-US" sz="2451" spc="4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29245" lvl="1" indent="-264623" algn="l">
              <a:lnSpc>
                <a:spcPts val="3431"/>
              </a:lnSpc>
              <a:buFont typeface="Arial"/>
              <a:buChar char="•"/>
            </a:pPr>
            <a:r>
              <a:rPr lang="en-US" sz="2451" spc="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Referential Integrity checks(JOIN WITH WHERE CLAUSE)</a:t>
            </a:r>
          </a:p>
          <a:p>
            <a:pPr algn="l">
              <a:lnSpc>
                <a:spcPts val="3431"/>
              </a:lnSpc>
            </a:pPr>
            <a:endParaRPr lang="en-US" sz="2451" spc="4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3431"/>
              </a:lnSpc>
              <a:spcBef>
                <a:spcPct val="0"/>
              </a:spcBef>
            </a:pPr>
            <a:endParaRPr lang="en-US" sz="2451" spc="4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9064" y="-175909"/>
            <a:ext cx="18288000" cy="10462909"/>
            <a:chOff x="0" y="-38100"/>
            <a:chExt cx="4816593" cy="2755663"/>
          </a:xfrm>
        </p:grpSpPr>
        <p:sp>
          <p:nvSpPr>
            <p:cNvPr id="4" name="Freeform 4"/>
            <p:cNvSpPr>
              <a:spLocks noChangeAspect="1"/>
            </p:cNvSpPr>
            <p:nvPr/>
          </p:nvSpPr>
          <p:spPr>
            <a:xfrm>
              <a:off x="1" y="823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744282" y="5111830"/>
            <a:ext cx="10819002" cy="3001613"/>
          </a:xfrm>
          <a:custGeom>
            <a:avLst/>
            <a:gdLst/>
            <a:ahLst/>
            <a:cxnLst/>
            <a:rect l="l" t="t" r="r" b="b"/>
            <a:pathLst>
              <a:path w="10819002" h="3001613">
                <a:moveTo>
                  <a:pt x="0" y="0"/>
                </a:moveTo>
                <a:lnTo>
                  <a:pt x="10819002" y="0"/>
                </a:lnTo>
                <a:lnTo>
                  <a:pt x="10819002" y="3001614"/>
                </a:lnTo>
                <a:lnTo>
                  <a:pt x="0" y="3001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-231307" y="358160"/>
            <a:ext cx="18519307" cy="885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57"/>
              </a:lnSpc>
            </a:pPr>
            <a:r>
              <a:rPr lang="en-US" sz="694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2.DELIVERY DELAY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44282" y="2698766"/>
            <a:ext cx="9248747" cy="1254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SELECT </a:t>
            </a:r>
            <a:r>
              <a:rPr lang="en-US" sz="1900" spc="-53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900" spc="-53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Shipment_ID,Order_ID,Pickup_Date,Delivery_Date,</a:t>
            </a:r>
            <a:r>
              <a:rPr lang="en-US" sz="1900" spc="-53" dirty="0" err="1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TIMESTAMPDIFF</a:t>
            </a:r>
            <a:r>
              <a:rPr lang="en-US" sz="1900" spc="-53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(HOUR, </a:t>
            </a:r>
            <a:r>
              <a:rPr lang="en-US" sz="1900" spc="-53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Pickup_Date</a:t>
            </a:r>
            <a:r>
              <a:rPr lang="en-US" sz="1900" spc="-53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1900" spc="-53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Delivery_Date</a:t>
            </a:r>
            <a:r>
              <a:rPr lang="en-US" sz="1900" spc="-53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) AS </a:t>
            </a:r>
            <a:r>
              <a:rPr lang="en-US" sz="1900" spc="-53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Delivery_Time_Hours</a:t>
            </a:r>
            <a:endParaRPr lang="en-US" sz="1900" spc="-53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algn="l">
              <a:lnSpc>
                <a:spcPts val="2527"/>
              </a:lnSpc>
            </a:pPr>
            <a:r>
              <a:rPr lang="en-US" sz="1900" spc="-53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FROM </a:t>
            </a:r>
            <a:r>
              <a:rPr lang="en-US" sz="1900" spc="-53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fedex_shipments</a:t>
            </a:r>
            <a:endParaRPr lang="en-US" sz="1900" spc="-53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45093" y="3066533"/>
            <a:ext cx="8188898" cy="68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QUERY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5093" y="5245180"/>
            <a:ext cx="8188898" cy="68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 dirty="0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OUTPUT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5093" y="1626143"/>
            <a:ext cx="17474011" cy="2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3"/>
              </a:lnSpc>
            </a:pPr>
            <a:r>
              <a:rPr lang="en-US" sz="210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1.DELIVERY DELAY (IN HOURS) FOR EACH SHIPMENT USING DELIVERY_DATE – PICKUP_DATE.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180300" y="4877656"/>
            <a:ext cx="7409310" cy="3908207"/>
          </a:xfrm>
          <a:custGeom>
            <a:avLst/>
            <a:gdLst/>
            <a:ahLst/>
            <a:cxnLst/>
            <a:rect l="l" t="t" r="r" b="b"/>
            <a:pathLst>
              <a:path w="7409310" h="3908207">
                <a:moveTo>
                  <a:pt x="0" y="0"/>
                </a:moveTo>
                <a:lnTo>
                  <a:pt x="7409310" y="0"/>
                </a:lnTo>
                <a:lnTo>
                  <a:pt x="7409310" y="3908208"/>
                </a:lnTo>
                <a:lnTo>
                  <a:pt x="0" y="3908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589610" y="4873446"/>
            <a:ext cx="6080746" cy="3912418"/>
          </a:xfrm>
          <a:custGeom>
            <a:avLst/>
            <a:gdLst/>
            <a:ahLst/>
            <a:cxnLst/>
            <a:rect l="l" t="t" r="r" b="b"/>
            <a:pathLst>
              <a:path w="6080746" h="3912418">
                <a:moveTo>
                  <a:pt x="0" y="0"/>
                </a:moveTo>
                <a:lnTo>
                  <a:pt x="6080747" y="0"/>
                </a:lnTo>
                <a:lnTo>
                  <a:pt x="6080747" y="3912418"/>
                </a:lnTo>
                <a:lnTo>
                  <a:pt x="0" y="39124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231307" y="358160"/>
            <a:ext cx="18519307" cy="885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57"/>
              </a:lnSpc>
            </a:pPr>
            <a:r>
              <a:rPr lang="en-US" sz="694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2.DELIVERY DELAY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44282" y="2202977"/>
            <a:ext cx="9248747" cy="222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SELECT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r.Route_ID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r.Source_City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r.Destination_City,ROUND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(</a:t>
            </a:r>
            <a:r>
              <a:rPr lang="en-US" sz="1900" b="1" spc="-53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AVG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(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s.Delay_Hours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),2) AS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Avg_Delay_Hours</a:t>
            </a:r>
            <a:endParaRPr lang="en-US" sz="1900" b="1" spc="-53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FROM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fedex_shipments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s</a:t>
            </a: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JOIN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fedex_routes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r ON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s.Route_ID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=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r.Route_ID</a:t>
            </a:r>
            <a:endParaRPr lang="en-US" sz="1900" b="1" spc="-53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GROUP BY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r.Route_ID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r.Source_City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r.Destination_City</a:t>
            </a:r>
            <a:endParaRPr lang="en-US" sz="1900" b="1" spc="-53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ORDER BY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Avg_Delay_Hours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</a:t>
            </a:r>
            <a:r>
              <a:rPr lang="en-US" sz="1900" b="1" spc="-53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DESC</a:t>
            </a: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LIMIT 10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5093" y="3066533"/>
            <a:ext cx="3535208" cy="68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 dirty="0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QUERY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5093" y="5378672"/>
            <a:ext cx="5977849" cy="499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2"/>
              </a:lnSpc>
            </a:pPr>
            <a:r>
              <a:rPr lang="en-US" sz="3916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OUTPUT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5093" y="1626143"/>
            <a:ext cx="17474011" cy="2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3"/>
              </a:lnSpc>
            </a:pPr>
            <a:r>
              <a:rPr lang="en-US" sz="210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TOP 10 DELAYED ROUTES BASED ON AVERAGE DELAY HOURS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591158-5E69-5A87-DC3D-F877B2ACB5C5}"/>
              </a:ext>
            </a:extLst>
          </p:cNvPr>
          <p:cNvSpPr txBox="1"/>
          <p:nvPr/>
        </p:nvSpPr>
        <p:spPr>
          <a:xfrm>
            <a:off x="13563600" y="9029700"/>
            <a:ext cx="15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Delayed routes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2599609" y="3370611"/>
            <a:ext cx="3331352" cy="5586821"/>
          </a:xfrm>
          <a:custGeom>
            <a:avLst/>
            <a:gdLst/>
            <a:ahLst/>
            <a:cxnLst/>
            <a:rect l="l" t="t" r="r" b="b"/>
            <a:pathLst>
              <a:path w="3331352" h="5586821">
                <a:moveTo>
                  <a:pt x="0" y="0"/>
                </a:moveTo>
                <a:lnTo>
                  <a:pt x="3331353" y="0"/>
                </a:lnTo>
                <a:lnTo>
                  <a:pt x="3331353" y="5586821"/>
                </a:lnTo>
                <a:lnTo>
                  <a:pt x="0" y="5586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695431" y="4521035"/>
            <a:ext cx="7577261" cy="4518894"/>
          </a:xfrm>
          <a:custGeom>
            <a:avLst/>
            <a:gdLst/>
            <a:ahLst/>
            <a:cxnLst/>
            <a:rect l="l" t="t" r="r" b="b"/>
            <a:pathLst>
              <a:path w="7577261" h="4518894">
                <a:moveTo>
                  <a:pt x="0" y="0"/>
                </a:moveTo>
                <a:lnTo>
                  <a:pt x="7577261" y="0"/>
                </a:lnTo>
                <a:lnTo>
                  <a:pt x="7577261" y="4518894"/>
                </a:lnTo>
                <a:lnTo>
                  <a:pt x="0" y="45188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-231307" y="339110"/>
            <a:ext cx="18519307" cy="746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7"/>
              </a:lnSpc>
            </a:pPr>
            <a:r>
              <a:rPr lang="en-US" sz="594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3.ROUTE OPTIMIZATION INSIGHTS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72755" y="2414746"/>
            <a:ext cx="9248747" cy="1903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SELECT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r.Route_ID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ROUND(AVG(</a:t>
            </a:r>
            <a:r>
              <a:rPr lang="en-US" sz="1900" b="1" spc="-53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TIMESTAMPDIFF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(HOUR,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s.Pickup_Date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s.Delivery_Date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)), 2) AS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Avg_Transit_Time_Hours</a:t>
            </a:r>
            <a:endParaRPr lang="en-US" sz="1900" b="1" spc="-53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FROM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fedex_shipments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s</a:t>
            </a: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JOIN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fedex_routes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r</a:t>
            </a: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ON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s.Route_ID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=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r.Route_ID</a:t>
            </a:r>
            <a:endParaRPr lang="en-US" sz="1900" b="1" spc="-53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GROUP BY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r.Route_ID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;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5093" y="2557621"/>
            <a:ext cx="2988924" cy="574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18"/>
              </a:lnSpc>
            </a:pPr>
            <a:r>
              <a:rPr lang="en-US" sz="4536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QUERY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5093" y="5378672"/>
            <a:ext cx="5977849" cy="499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2"/>
              </a:lnSpc>
            </a:pPr>
            <a:r>
              <a:rPr lang="en-US" sz="3916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OUTPUT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6994" y="1607602"/>
            <a:ext cx="17474011" cy="2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3"/>
              </a:lnSpc>
            </a:pPr>
            <a:r>
              <a:rPr lang="en-US" sz="210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AVERAGE TRANSIT TIME (IN HOURS) ACROSS ALL SHIPMENTS.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061967" y="4621941"/>
            <a:ext cx="5737499" cy="4403197"/>
          </a:xfrm>
          <a:custGeom>
            <a:avLst/>
            <a:gdLst/>
            <a:ahLst/>
            <a:cxnLst/>
            <a:rect l="l" t="t" r="r" b="b"/>
            <a:pathLst>
              <a:path w="5737499" h="4403197">
                <a:moveTo>
                  <a:pt x="0" y="0"/>
                </a:moveTo>
                <a:lnTo>
                  <a:pt x="5737499" y="0"/>
                </a:lnTo>
                <a:lnTo>
                  <a:pt x="5737499" y="4403197"/>
                </a:lnTo>
                <a:lnTo>
                  <a:pt x="0" y="4403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200716" y="3725917"/>
            <a:ext cx="3327546" cy="5532383"/>
          </a:xfrm>
          <a:custGeom>
            <a:avLst/>
            <a:gdLst/>
            <a:ahLst/>
            <a:cxnLst/>
            <a:rect l="l" t="t" r="r" b="b"/>
            <a:pathLst>
              <a:path w="3327546" h="5532383">
                <a:moveTo>
                  <a:pt x="0" y="0"/>
                </a:moveTo>
                <a:lnTo>
                  <a:pt x="3327546" y="0"/>
                </a:lnTo>
                <a:lnTo>
                  <a:pt x="3327546" y="5532383"/>
                </a:lnTo>
                <a:lnTo>
                  <a:pt x="0" y="55323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477084" y="2541603"/>
            <a:ext cx="9248747" cy="1568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SELECT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r.Route_ID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ROUND(AVG(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s.Delay_Hours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), 2) AS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Avg_Delay_Hours</a:t>
            </a:r>
            <a:endParaRPr lang="en-US" sz="1900" b="1" spc="-53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FROM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fedex_shipments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s</a:t>
            </a: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JOIN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fedex_routes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r</a:t>
            </a: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ON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s.Route_ID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=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r.Route_ID</a:t>
            </a:r>
            <a:endParaRPr lang="en-US" sz="1900" b="1" spc="-53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GROUP BY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r.Route_ID</a:t>
            </a:r>
            <a:endParaRPr lang="en-US" sz="1900" b="1" spc="-53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45093" y="3066533"/>
            <a:ext cx="3535208" cy="68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QUERY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5093" y="5378672"/>
            <a:ext cx="5977849" cy="499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2"/>
              </a:lnSpc>
            </a:pPr>
            <a:r>
              <a:rPr lang="en-US" sz="3916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OUTPUT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5093" y="1626143"/>
            <a:ext cx="17474011" cy="2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3"/>
              </a:lnSpc>
            </a:pPr>
            <a:r>
              <a:rPr lang="en-US" sz="210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AVERAGE DELAY (IN HOURS) PER ROUTE.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231307" y="339110"/>
            <a:ext cx="18519307" cy="746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7"/>
              </a:lnSpc>
            </a:pPr>
            <a:r>
              <a:rPr lang="en-US" sz="594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3.ROUTE OPTIMIZATION INSIGHTS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744282" y="2202977"/>
            <a:ext cx="11163663" cy="2442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4"/>
              </a:lnSpc>
            </a:pPr>
            <a:r>
              <a:rPr lang="en-US" sz="1800" b="1" spc="-50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SELECT  </a:t>
            </a:r>
            <a:r>
              <a:rPr lang="en-US" sz="1800" b="1" spc="-50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t.Route_ID</a:t>
            </a:r>
            <a:r>
              <a:rPr lang="en-US" sz="1800" b="1" spc="-50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800" b="1" spc="-50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t.Distance_KM</a:t>
            </a:r>
            <a:r>
              <a:rPr lang="en-US" sz="1800" b="1" spc="-50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800" b="1" spc="-50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t.Avg_Transit_Time_Hours</a:t>
            </a:r>
            <a:r>
              <a:rPr lang="en-US" sz="1800" b="1" spc="-50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</a:t>
            </a:r>
          </a:p>
          <a:p>
            <a:pPr algn="l">
              <a:lnSpc>
                <a:spcPts val="2394"/>
              </a:lnSpc>
            </a:pPr>
            <a:r>
              <a:rPr lang="en-US" sz="1800" b="1" spc="-50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ROUND(</a:t>
            </a:r>
            <a:r>
              <a:rPr lang="en-US" sz="1800" b="1" spc="-50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t.Distance_KM</a:t>
            </a:r>
            <a:r>
              <a:rPr lang="en-US" sz="1800" b="1" spc="-50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</a:t>
            </a:r>
            <a:r>
              <a:rPr lang="en-US" sz="1800" b="1" spc="-50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/</a:t>
            </a:r>
            <a:r>
              <a:rPr lang="en-US" sz="1800" b="1" spc="-50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</a:t>
            </a:r>
            <a:r>
              <a:rPr lang="en-US" sz="1800" b="1" spc="-50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t.Avg_Transit_Time_Hours</a:t>
            </a:r>
            <a:r>
              <a:rPr lang="en-US" sz="1800" b="1" spc="-50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2) AS </a:t>
            </a:r>
            <a:r>
              <a:rPr lang="en-US" sz="1800" b="1" spc="-50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Efficiency_Ratio</a:t>
            </a:r>
            <a:endParaRPr lang="en-US" sz="1800" b="1" spc="-50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2394"/>
              </a:lnSpc>
            </a:pPr>
            <a:r>
              <a:rPr lang="en-US" sz="1800" b="1" spc="-50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FROM (SELECT </a:t>
            </a:r>
            <a:r>
              <a:rPr lang="en-US" sz="1800" b="1" spc="-50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r.Route_ID,r.Distance_KM,ROUND</a:t>
            </a:r>
            <a:r>
              <a:rPr lang="en-US" sz="1800" b="1" spc="-50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(AVG(</a:t>
            </a:r>
            <a:r>
              <a:rPr lang="en-US" sz="1800" b="1" spc="-50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TIMESTAMPDIFF</a:t>
            </a:r>
            <a:r>
              <a:rPr lang="en-US" sz="1800" b="1" spc="-50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(HOUR, </a:t>
            </a:r>
            <a:r>
              <a:rPr lang="en-US" sz="1800" b="1" spc="-50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s.Pickup_Date</a:t>
            </a:r>
            <a:r>
              <a:rPr lang="en-US" sz="1800" b="1" spc="-50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800" b="1" spc="-50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s.Delivery_Date</a:t>
            </a:r>
            <a:r>
              <a:rPr lang="en-US" sz="1800" b="1" spc="-50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)), 2)  AS </a:t>
            </a:r>
            <a:r>
              <a:rPr lang="en-US" sz="1800" b="1" spc="-50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Avg_Transit_Time_Hours</a:t>
            </a:r>
            <a:endParaRPr lang="en-US" sz="1800" b="1" spc="-50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2394"/>
              </a:lnSpc>
            </a:pPr>
            <a:r>
              <a:rPr lang="en-US" sz="1800" b="1" spc="-50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FROM </a:t>
            </a:r>
            <a:r>
              <a:rPr lang="en-US" sz="1800" b="1" spc="-50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fedex_shipments</a:t>
            </a:r>
            <a:r>
              <a:rPr lang="en-US" sz="1800" b="1" spc="-50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s</a:t>
            </a:r>
          </a:p>
          <a:p>
            <a:pPr algn="l">
              <a:lnSpc>
                <a:spcPts val="2394"/>
              </a:lnSpc>
            </a:pPr>
            <a:r>
              <a:rPr lang="en-US" sz="1800" b="1" spc="-50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</a:t>
            </a:r>
            <a:r>
              <a:rPr lang="en-US" sz="1800" b="1" spc="-50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JOIN</a:t>
            </a:r>
            <a:r>
              <a:rPr lang="en-US" sz="1800" b="1" spc="-50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</a:t>
            </a:r>
            <a:r>
              <a:rPr lang="en-US" sz="1800" b="1" spc="-50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fedex_routes</a:t>
            </a:r>
            <a:r>
              <a:rPr lang="en-US" sz="1800" b="1" spc="-50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r</a:t>
            </a:r>
          </a:p>
          <a:p>
            <a:pPr algn="l">
              <a:lnSpc>
                <a:spcPts val="2394"/>
              </a:lnSpc>
            </a:pPr>
            <a:r>
              <a:rPr lang="en-US" sz="1800" b="1" spc="-50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    ON </a:t>
            </a:r>
            <a:r>
              <a:rPr lang="en-US" sz="1800" b="1" spc="-50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s.Route_ID</a:t>
            </a:r>
            <a:r>
              <a:rPr lang="en-US" sz="1800" b="1" spc="-50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= </a:t>
            </a:r>
            <a:r>
              <a:rPr lang="en-US" sz="1800" b="1" spc="-50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r.Route_ID</a:t>
            </a:r>
            <a:endParaRPr lang="en-US" sz="1800" b="1" spc="-50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2394"/>
              </a:lnSpc>
            </a:pPr>
            <a:r>
              <a:rPr lang="en-US" sz="1800" b="1" spc="-50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</a:t>
            </a:r>
            <a:r>
              <a:rPr lang="en-US" sz="1800" b="1" spc="-50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GROUP BY </a:t>
            </a:r>
            <a:r>
              <a:rPr lang="en-US" sz="1800" b="1" spc="-50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r.Route_ID</a:t>
            </a:r>
            <a:r>
              <a:rPr lang="en-US" sz="1800" b="1" spc="-50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800" b="1" spc="-50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r.Distance_KM</a:t>
            </a:r>
            <a:r>
              <a:rPr lang="en-US" sz="1800" b="1" spc="-50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) t;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5093" y="3066533"/>
            <a:ext cx="3535208" cy="68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QUERY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5093" y="5378672"/>
            <a:ext cx="5977849" cy="499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2"/>
              </a:lnSpc>
            </a:pPr>
            <a:r>
              <a:rPr lang="en-US" sz="3916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OUTPUT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5093" y="1626143"/>
            <a:ext cx="17474011" cy="2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3"/>
              </a:lnSpc>
            </a:pPr>
            <a:r>
              <a:rPr lang="en-US" sz="210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DISTANCE-TO-TIME EFFICIENCY RATIO = DISTANCE_KM / AVG_TRANSIT_TIME_HOURS.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231307" y="339110"/>
            <a:ext cx="18519307" cy="746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7"/>
              </a:lnSpc>
            </a:pPr>
            <a:r>
              <a:rPr lang="en-US" sz="594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3.ROUTE OPTIMIZATION INSIGHTS</a:t>
            </a:r>
          </a:p>
        </p:txBody>
      </p:sp>
      <p:pic>
        <p:nvPicPr>
          <p:cNvPr id="15" name="Picture 14" descr="A colorful circle with numbers&#10;&#10;AI-generated content may be incorrect.">
            <a:extLst>
              <a:ext uri="{FF2B5EF4-FFF2-40B4-BE49-F238E27FC236}">
                <a16:creationId xmlns:a16="http://schemas.microsoft.com/office/drawing/2014/main" id="{62F957E1-7023-1055-E51F-9EC0776CF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4944310"/>
            <a:ext cx="5867400" cy="52896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477625" y="6585529"/>
            <a:ext cx="10227390" cy="1959739"/>
          </a:xfrm>
          <a:custGeom>
            <a:avLst/>
            <a:gdLst/>
            <a:ahLst/>
            <a:cxnLst/>
            <a:rect l="l" t="t" r="r" b="b"/>
            <a:pathLst>
              <a:path w="10227390" h="1959739">
                <a:moveTo>
                  <a:pt x="0" y="0"/>
                </a:moveTo>
                <a:lnTo>
                  <a:pt x="10227390" y="0"/>
                </a:lnTo>
                <a:lnTo>
                  <a:pt x="10227390" y="1959739"/>
                </a:lnTo>
                <a:lnTo>
                  <a:pt x="0" y="19597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744282" y="2202977"/>
            <a:ext cx="12121121" cy="3506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SELECT *</a:t>
            </a: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FROM ( SELECT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r.Route_ID,r.Distance_KM,ROUND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(AVG(TIMESTAMPDIFF(HOUR,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s.Pickup_Date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s.Delivery_Date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)), 2) AS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Avg_Transit_Time_Hours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</a:t>
            </a: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    ROUND(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r.Distance_KM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/ AVG(</a:t>
            </a:r>
            <a:r>
              <a:rPr lang="en-US" sz="1900" b="1" spc="-53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TIMESTAMPDIFF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(HOUR,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s.Pickup_Date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s.Delivery_Date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)), 2) AS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Efficiency_Ratio</a:t>
            </a:r>
            <a:endParaRPr lang="en-US" sz="1900" b="1" spc="-53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FROM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fedex_shipments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s</a:t>
            </a: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JOIN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fedex_routes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r</a:t>
            </a: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    ON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s.Route_ID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=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r.Route_ID</a:t>
            </a:r>
            <a:endParaRPr lang="en-US" sz="1900" b="1" spc="-53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GROUP BY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r.Route_ID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r.Distance_KM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) t</a:t>
            </a: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ORDER BY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Efficiency_Ratio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ASC</a:t>
            </a: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LIMIT 3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;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5093" y="3066533"/>
            <a:ext cx="3535208" cy="68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QUERY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5093" y="6086383"/>
            <a:ext cx="5977849" cy="499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2"/>
              </a:lnSpc>
            </a:pPr>
            <a:r>
              <a:rPr lang="en-US" sz="3916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OUTPUT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5093" y="1626143"/>
            <a:ext cx="17474011" cy="2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3"/>
              </a:lnSpc>
            </a:pPr>
            <a:r>
              <a:rPr lang="en-US" sz="210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3 ROUTES WITH THE WORST EFFICIENCY RATIO (LOWEST DISTANCE-TO-TIME).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231307" y="339110"/>
            <a:ext cx="18519307" cy="746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7"/>
              </a:lnSpc>
            </a:pPr>
            <a:r>
              <a:rPr lang="en-US" sz="594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3.ROUTE OPTIMIZATION INSIGHTS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433256" y="5143500"/>
            <a:ext cx="7685848" cy="4991840"/>
          </a:xfrm>
          <a:custGeom>
            <a:avLst/>
            <a:gdLst/>
            <a:ahLst/>
            <a:cxnLst/>
            <a:rect l="l" t="t" r="r" b="b"/>
            <a:pathLst>
              <a:path w="7685848" h="4991840">
                <a:moveTo>
                  <a:pt x="0" y="0"/>
                </a:moveTo>
                <a:lnTo>
                  <a:pt x="7685848" y="0"/>
                </a:lnTo>
                <a:lnTo>
                  <a:pt x="7685848" y="4991840"/>
                </a:lnTo>
                <a:lnTo>
                  <a:pt x="0" y="49918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418399" y="5676808"/>
            <a:ext cx="4963700" cy="4258795"/>
          </a:xfrm>
          <a:custGeom>
            <a:avLst/>
            <a:gdLst/>
            <a:ahLst/>
            <a:cxnLst/>
            <a:rect l="l" t="t" r="r" b="b"/>
            <a:pathLst>
              <a:path w="4963700" h="4258795">
                <a:moveTo>
                  <a:pt x="0" y="0"/>
                </a:moveTo>
                <a:lnTo>
                  <a:pt x="4963699" y="0"/>
                </a:lnTo>
                <a:lnTo>
                  <a:pt x="4963699" y="4258795"/>
                </a:lnTo>
                <a:lnTo>
                  <a:pt x="0" y="42587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744282" y="2202977"/>
            <a:ext cx="9248747" cy="3185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SELECT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r.Route_ID,COUNT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(*) AS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Total_Shipments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</a:t>
            </a: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SUM(TIMESTAMPDIFF(HOUR,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s.Pickup_Date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s.Delivery_Date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) &gt;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r.Avg_Transit_Time_Hours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) AS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Delayed_Shipments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</a:t>
            </a: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ROUND(SUM(TIMESTAMPDIFF(HOUR,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s.Pickup_Date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s.Delivery_Date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) &gt;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r.Avg_Transit_Time_Hours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)/ COUNT(*) * 100, 2) AS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Delay_Percentage</a:t>
            </a:r>
            <a:endParaRPr lang="en-US" sz="1900" b="1" spc="-53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FROM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fedex_shipments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s</a:t>
            </a: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JOIN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fedex_routes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r</a:t>
            </a: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ON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s.Route_ID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=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r.Route_ID</a:t>
            </a:r>
            <a:endParaRPr lang="en-US" sz="1900" b="1" spc="-53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GROUP BY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r.Route_ID</a:t>
            </a:r>
            <a:endParaRPr lang="en-US" sz="1900" b="1" spc="-53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HAVING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Delay_Percentage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&gt; 20;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5093" y="3066533"/>
            <a:ext cx="3535208" cy="68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QUERY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5093" y="6880810"/>
            <a:ext cx="5977849" cy="499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2"/>
              </a:lnSpc>
            </a:pPr>
            <a:r>
              <a:rPr lang="en-US" sz="3916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OUTPUT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5093" y="1626143"/>
            <a:ext cx="17474011" cy="2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3"/>
              </a:lnSpc>
            </a:pPr>
            <a:r>
              <a:rPr lang="en-US" sz="210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ROUTES WITH &gt;20% OF SHIPMENTS DELAYED BEYOND EXPECTED TRANSIT TIME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115654" y="498424"/>
            <a:ext cx="18519307" cy="746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7"/>
              </a:lnSpc>
            </a:pPr>
            <a:r>
              <a:rPr lang="en-US" sz="594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3.ROUTE OPTIMIZATION INSIGHTS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5098385" y="1824627"/>
            <a:ext cx="8783423" cy="499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2"/>
              </a:lnSpc>
            </a:pPr>
            <a:r>
              <a:rPr lang="en-US" sz="3916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RECOMMENDATIONS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231307" y="498424"/>
            <a:ext cx="18519307" cy="746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7"/>
              </a:lnSpc>
            </a:pPr>
            <a:r>
              <a:rPr lang="en-US" sz="594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3.ROUTE OPTIMIZATION 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69188" y="2760382"/>
            <a:ext cx="16128153" cy="3769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Routes R003, R015, and R008 show the poorest distance-to-time efficiency. Improving these routes transit paths and rebalancing warehouse loads can significantly reduce overall delay and enhance FedEx delivery reliability.</a:t>
            </a:r>
          </a:p>
          <a:p>
            <a:pPr marL="669283" lvl="1" indent="-334641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From the delay charts:Multiple routes consistently show delay percentages above 80–90%.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Avg Delay Hours is also high for R002, R005, R007, R013, etc.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164276" y="5283422"/>
            <a:ext cx="10052495" cy="2190086"/>
          </a:xfrm>
          <a:custGeom>
            <a:avLst/>
            <a:gdLst/>
            <a:ahLst/>
            <a:cxnLst/>
            <a:rect l="l" t="t" r="r" b="b"/>
            <a:pathLst>
              <a:path w="10052495" h="2190086">
                <a:moveTo>
                  <a:pt x="0" y="0"/>
                </a:moveTo>
                <a:lnTo>
                  <a:pt x="10052495" y="0"/>
                </a:lnTo>
                <a:lnTo>
                  <a:pt x="10052495" y="2190086"/>
                </a:lnTo>
                <a:lnTo>
                  <a:pt x="0" y="21900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-231307" y="358160"/>
            <a:ext cx="18519307" cy="885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57"/>
              </a:lnSpc>
            </a:pPr>
            <a:r>
              <a:rPr lang="en-US" sz="694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WAREHOUSE PERFORMANCE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44282" y="2202977"/>
            <a:ext cx="9248747" cy="25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900" b="1" spc="-53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SELECT w.Warehouse_ID, w.City, w.Country, ROUND(AVG(s.Delay_Hours), 2) AS Avg_Delay_Hours</a:t>
            </a:r>
          </a:p>
          <a:p>
            <a:pPr algn="l">
              <a:lnSpc>
                <a:spcPts val="2527"/>
              </a:lnSpc>
            </a:pPr>
            <a:r>
              <a:rPr lang="en-US" sz="1900" b="1" spc="-53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FROM fedex_shipments s</a:t>
            </a:r>
          </a:p>
          <a:p>
            <a:pPr algn="l">
              <a:lnSpc>
                <a:spcPts val="2527"/>
              </a:lnSpc>
            </a:pPr>
            <a:r>
              <a:rPr lang="en-US" sz="1900" b="1" spc="-53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JOIN fedex_warehouses w</a:t>
            </a:r>
          </a:p>
          <a:p>
            <a:pPr algn="l">
              <a:lnSpc>
                <a:spcPts val="2527"/>
              </a:lnSpc>
            </a:pPr>
            <a:r>
              <a:rPr lang="en-US" sz="1900" b="1" spc="-53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ON s.Warehouse_ID = w.Warehouse_ID</a:t>
            </a:r>
          </a:p>
          <a:p>
            <a:pPr algn="l">
              <a:lnSpc>
                <a:spcPts val="2527"/>
              </a:lnSpc>
            </a:pPr>
            <a:r>
              <a:rPr lang="en-US" sz="1900" b="1" spc="-53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GROUP BY w.Warehouse_ID, w.City, w.Country</a:t>
            </a:r>
          </a:p>
          <a:p>
            <a:pPr algn="l">
              <a:lnSpc>
                <a:spcPts val="2527"/>
              </a:lnSpc>
            </a:pPr>
            <a:r>
              <a:rPr lang="en-US" sz="1900" b="1" spc="-53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ORDER BY Avg_Delay_Hours DESC</a:t>
            </a:r>
          </a:p>
          <a:p>
            <a:pPr algn="l">
              <a:lnSpc>
                <a:spcPts val="2527"/>
              </a:lnSpc>
            </a:pPr>
            <a:r>
              <a:rPr lang="en-US" sz="1900" b="1" spc="-53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LIMIT 3;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5093" y="3066533"/>
            <a:ext cx="3535208" cy="68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QUERY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5093" y="5378672"/>
            <a:ext cx="5977849" cy="499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2"/>
              </a:lnSpc>
            </a:pPr>
            <a:r>
              <a:rPr lang="en-US" sz="3916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OUTPUT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5093" y="1626143"/>
            <a:ext cx="17474011" cy="2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3"/>
              </a:lnSpc>
            </a:pPr>
            <a:r>
              <a:rPr lang="en-US" sz="210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TOP 3 WAREHOUSES WITH THE HIGHEST AVERAGE DELAY IN SHIPMENTS DISPATCHED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421957" y="4214845"/>
            <a:ext cx="8468343" cy="5076793"/>
          </a:xfrm>
          <a:custGeom>
            <a:avLst/>
            <a:gdLst/>
            <a:ahLst/>
            <a:cxnLst/>
            <a:rect l="l" t="t" r="r" b="b"/>
            <a:pathLst>
              <a:path w="8468343" h="5076793">
                <a:moveTo>
                  <a:pt x="0" y="0"/>
                </a:moveTo>
                <a:lnTo>
                  <a:pt x="8468343" y="0"/>
                </a:lnTo>
                <a:lnTo>
                  <a:pt x="8468343" y="5076792"/>
                </a:lnTo>
                <a:lnTo>
                  <a:pt x="0" y="50767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744282" y="2202977"/>
            <a:ext cx="9248747" cy="1568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900" b="1" spc="-53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SELECT s.Warehouse_ID, COUNT(*) AS Total_Shipments,SUM(CASE WHEN s.Delay_Hours &gt; 0 THEN 1 ELSE 0 END) AS Delayed_Shipments</a:t>
            </a:r>
          </a:p>
          <a:p>
            <a:pPr algn="l">
              <a:lnSpc>
                <a:spcPts val="2527"/>
              </a:lnSpc>
            </a:pPr>
            <a:r>
              <a:rPr lang="en-US" sz="1900" b="1" spc="-53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FROM fedex_shipments s</a:t>
            </a:r>
          </a:p>
          <a:p>
            <a:pPr algn="l">
              <a:lnSpc>
                <a:spcPts val="2527"/>
              </a:lnSpc>
            </a:pPr>
            <a:r>
              <a:rPr lang="en-US" sz="1900" b="1" spc="-53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GROUP BY s.Warehouse_ID</a:t>
            </a:r>
          </a:p>
          <a:p>
            <a:pPr algn="l">
              <a:lnSpc>
                <a:spcPts val="2527"/>
              </a:lnSpc>
            </a:pPr>
            <a:r>
              <a:rPr lang="en-US" sz="1900" b="1" spc="-53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ORDER BY Delayed_Shipments DESC;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5093" y="3066533"/>
            <a:ext cx="3535208" cy="68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QUERY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5093" y="5378672"/>
            <a:ext cx="5977849" cy="499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2"/>
              </a:lnSpc>
            </a:pPr>
            <a:r>
              <a:rPr lang="en-US" sz="3916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OUTPUT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5093" y="1626143"/>
            <a:ext cx="17474011" cy="2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3"/>
              </a:lnSpc>
            </a:pPr>
            <a:r>
              <a:rPr lang="en-US" sz="210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TOTAL SHIPMENTS VS DELAYED SHIPMENTS FOR EACH WAREHOUSE.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231307" y="358160"/>
            <a:ext cx="18519307" cy="885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57"/>
              </a:lnSpc>
            </a:pPr>
            <a:r>
              <a:rPr lang="en-US" sz="694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WAREHOUSE PERFORMANCE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4180300" y="5283422"/>
            <a:ext cx="6484764" cy="2379730"/>
          </a:xfrm>
          <a:custGeom>
            <a:avLst/>
            <a:gdLst/>
            <a:ahLst/>
            <a:cxnLst/>
            <a:rect l="l" t="t" r="r" b="b"/>
            <a:pathLst>
              <a:path w="6484764" h="2379730">
                <a:moveTo>
                  <a:pt x="0" y="0"/>
                </a:moveTo>
                <a:lnTo>
                  <a:pt x="6484765" y="0"/>
                </a:lnTo>
                <a:lnTo>
                  <a:pt x="6484765" y="2379730"/>
                </a:lnTo>
                <a:lnTo>
                  <a:pt x="0" y="2379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891395" y="5056831"/>
            <a:ext cx="5807654" cy="3747507"/>
          </a:xfrm>
          <a:custGeom>
            <a:avLst/>
            <a:gdLst/>
            <a:ahLst/>
            <a:cxnLst/>
            <a:rect l="l" t="t" r="r" b="b"/>
            <a:pathLst>
              <a:path w="5807654" h="3747507">
                <a:moveTo>
                  <a:pt x="0" y="0"/>
                </a:moveTo>
                <a:lnTo>
                  <a:pt x="5807654" y="0"/>
                </a:lnTo>
                <a:lnTo>
                  <a:pt x="5807654" y="3747507"/>
                </a:lnTo>
                <a:lnTo>
                  <a:pt x="0" y="37475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031755" y="2202977"/>
            <a:ext cx="11667294" cy="2520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92" b="1" spc="-47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WITH GlobalAvg AS (SELECT AVG(Delay_Hours) AS Global_Avg_Delay FROM fedex_shipments),</a:t>
            </a:r>
          </a:p>
          <a:p>
            <a:pPr algn="l">
              <a:lnSpc>
                <a:spcPts val="2250"/>
              </a:lnSpc>
            </a:pPr>
            <a:r>
              <a:rPr lang="en-US" sz="1692" b="1" spc="-47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WarehouseAvg AS (SELECT Warehouse_ID,AVG(Delay_Hours) AS Avg_Delay  FROM fedex_shipments GROUP BY Warehouse_ID)</a:t>
            </a:r>
          </a:p>
          <a:p>
            <a:pPr algn="l">
              <a:lnSpc>
                <a:spcPts val="2250"/>
              </a:lnSpc>
            </a:pPr>
            <a:r>
              <a:rPr lang="en-US" sz="1692" b="1" spc="-47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SELECT  w.Warehouse_ID, ROUND(w.Avg_Delay, 2) AS Warehouse_Avg_Delay, ROUND(g.Global_Avg_Delay, 2) AS Global_Avg_Delay</a:t>
            </a:r>
          </a:p>
          <a:p>
            <a:pPr algn="l">
              <a:lnSpc>
                <a:spcPts val="2250"/>
              </a:lnSpc>
            </a:pPr>
            <a:r>
              <a:rPr lang="en-US" sz="1692" b="1" spc="-47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FROM WarehouseAvg w</a:t>
            </a:r>
          </a:p>
          <a:p>
            <a:pPr algn="l">
              <a:lnSpc>
                <a:spcPts val="2250"/>
              </a:lnSpc>
            </a:pPr>
            <a:r>
              <a:rPr lang="en-US" sz="1692" b="1" spc="-47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CROSS JOIN GlobalAvg g</a:t>
            </a:r>
          </a:p>
          <a:p>
            <a:pPr algn="l">
              <a:lnSpc>
                <a:spcPts val="2250"/>
              </a:lnSpc>
            </a:pPr>
            <a:r>
              <a:rPr lang="en-US" sz="1692" b="1" spc="-47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WHERE w.Avg_Delay &gt; g.Global_Avg_Delay</a:t>
            </a:r>
          </a:p>
          <a:p>
            <a:pPr algn="l">
              <a:lnSpc>
                <a:spcPts val="2250"/>
              </a:lnSpc>
            </a:pPr>
            <a:r>
              <a:rPr lang="en-US" sz="1692" b="1" spc="-47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ORDER BY w.Avg_Delay DESC;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5093" y="3066533"/>
            <a:ext cx="3535208" cy="68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QUERY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5093" y="5378672"/>
            <a:ext cx="5977849" cy="499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2"/>
              </a:lnSpc>
            </a:pPr>
            <a:r>
              <a:rPr lang="en-US" sz="3916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OUTPUT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5093" y="1626143"/>
            <a:ext cx="17474011" cy="2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3"/>
              </a:lnSpc>
            </a:pPr>
            <a:r>
              <a:rPr lang="en-US" sz="210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WAREHOUSES WHERE AVERAGE DELAY EXCEEDS THE GLOBAL AVERAGE DELAY.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231307" y="358160"/>
            <a:ext cx="18519307" cy="885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57"/>
              </a:lnSpc>
            </a:pPr>
            <a:r>
              <a:rPr lang="en-US" sz="694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WAREHOUSE PERFORMANCE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4012850" y="5483820"/>
            <a:ext cx="7291097" cy="2651308"/>
          </a:xfrm>
          <a:custGeom>
            <a:avLst/>
            <a:gdLst/>
            <a:ahLst/>
            <a:cxnLst/>
            <a:rect l="l" t="t" r="r" b="b"/>
            <a:pathLst>
              <a:path w="7291097" h="2651308">
                <a:moveTo>
                  <a:pt x="0" y="0"/>
                </a:moveTo>
                <a:lnTo>
                  <a:pt x="7291096" y="0"/>
                </a:lnTo>
                <a:lnTo>
                  <a:pt x="7291096" y="2651308"/>
                </a:lnTo>
                <a:lnTo>
                  <a:pt x="0" y="2651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884461" y="2202977"/>
            <a:ext cx="12374822" cy="3185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WITH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WarehouseStats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AS ( SELECT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Warehouse_ID,COUNT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(*) AS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Total_Shipments,SUM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(CASE WHEN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Delay_Hours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= 0 THEN 1 ELSE 0 END) AS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On_Time_Shipments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</a:t>
            </a: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    ROUND(SUM(CASE WHEN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Delay_Hours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= 0 THEN 1 ELSE 0 END) / COUNT(*) * 100,2) AS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On_Time_Percentage</a:t>
            </a:r>
            <a:endParaRPr lang="en-US" sz="1900" b="1" spc="-53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FROM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fedex_shipments</a:t>
            </a:r>
            <a:endParaRPr lang="en-US" sz="1900" b="1" spc="-53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GROUP BY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Warehouse_ID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)</a:t>
            </a: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SELECT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Warehouse_ID,Total_Shipments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On_Time_Shipments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On_Time_Percentage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</a:t>
            </a: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RANK() OVER (ORDER BY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On_Time_Percentage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DESC) AS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On_Time_Rank</a:t>
            </a:r>
            <a:endParaRPr lang="en-US" sz="1900" b="1" spc="-53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FROM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WarehouseStats</a:t>
            </a:r>
            <a:endParaRPr lang="en-US" sz="1900" b="1" spc="-53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2527"/>
              </a:lnSpc>
            </a:pP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ORDER BY </a:t>
            </a:r>
            <a:r>
              <a:rPr lang="en-US" sz="1900" b="1" spc="-53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On_Time_Rank</a:t>
            </a:r>
            <a:r>
              <a:rPr lang="en-US" sz="1900" b="1" spc="-53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5093" y="3066533"/>
            <a:ext cx="3535208" cy="68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QUERY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5093" y="5579070"/>
            <a:ext cx="5977849" cy="499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2"/>
              </a:lnSpc>
            </a:pPr>
            <a:r>
              <a:rPr lang="en-US" sz="3916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OUTPUT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5093" y="1626143"/>
            <a:ext cx="17474011" cy="2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3"/>
              </a:lnSpc>
            </a:pPr>
            <a:r>
              <a:rPr lang="en-US" sz="210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RANK ALL WAREHOUSES BASED ON ON-TIME DELIVERY PERCENTAGE.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231307" y="358160"/>
            <a:ext cx="18519307" cy="885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57"/>
              </a:lnSpc>
            </a:pPr>
            <a:r>
              <a:rPr lang="en-US" sz="694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WAREHOUSE PERFORMANCE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655258" y="5344162"/>
            <a:ext cx="7330500" cy="4301660"/>
          </a:xfrm>
          <a:custGeom>
            <a:avLst/>
            <a:gdLst/>
            <a:ahLst/>
            <a:cxnLst/>
            <a:rect l="l" t="t" r="r" b="b"/>
            <a:pathLst>
              <a:path w="7413656" h="4415960">
                <a:moveTo>
                  <a:pt x="0" y="0"/>
                </a:moveTo>
                <a:lnTo>
                  <a:pt x="7413656" y="0"/>
                </a:lnTo>
                <a:lnTo>
                  <a:pt x="7413656" y="4415960"/>
                </a:lnTo>
                <a:lnTo>
                  <a:pt x="0" y="44159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220111"/>
            <a:ext cx="18288000" cy="808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7"/>
              </a:lnSpc>
            </a:pPr>
            <a:r>
              <a:rPr lang="en-US" sz="637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DELIVERY AGENT PERFORMANCE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36456" y="2376977"/>
            <a:ext cx="14182648" cy="2547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490" b="1" spc="-41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WITH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agent_performance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AS ( SELECT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s.Route_ID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s.Agent_ID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COUNT(*) AS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Total_Shipments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  SUM(CASE WHEN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s.Delivery_Status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= 'Delivered' AND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s.Delay_Hours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&lt;= 0 THEN 1 ELSE 0 END) AS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OnTime_Shipments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ROUND(SUM(CASE WHEN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s.Delivery_Status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= 'Delivered' </a:t>
            </a:r>
          </a:p>
          <a:p>
            <a:pPr algn="l">
              <a:lnSpc>
                <a:spcPts val="1982"/>
              </a:lnSpc>
            </a:pP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                  AND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s.Delay_Hours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&lt;= 0 THEN 1 ELSE 0 END)/ COUNT(*) * 100, 2) AS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OnTime_Percentage</a:t>
            </a:r>
            <a:endParaRPr lang="en-US" sz="1490" b="1" spc="-41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1982"/>
              </a:lnSpc>
            </a:pP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FROM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fedex_shipments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s</a:t>
            </a:r>
          </a:p>
          <a:p>
            <a:pPr algn="l">
              <a:lnSpc>
                <a:spcPts val="1982"/>
              </a:lnSpc>
            </a:pP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GROUP BY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s.Route_ID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s.Agent_ID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)</a:t>
            </a:r>
          </a:p>
          <a:p>
            <a:pPr algn="l">
              <a:lnSpc>
                <a:spcPts val="1982"/>
              </a:lnSpc>
            </a:pPr>
            <a:endParaRPr lang="en-US" sz="1490" b="1" spc="-41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1982"/>
              </a:lnSpc>
            </a:pP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SELECT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Route_ID,Agent_ID,Total_Shipments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OnTime_Shipments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OnTime_Percentage,</a:t>
            </a:r>
            <a:r>
              <a:rPr lang="en-US" sz="1490" b="1" spc="-41" dirty="0" err="1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RANK</a:t>
            </a:r>
            <a:r>
              <a:rPr lang="en-US" sz="1490" b="1" spc="-41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() OVER 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(PARTITION BY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Route_ID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</a:t>
            </a:r>
          </a:p>
          <a:p>
            <a:pPr algn="l">
              <a:lnSpc>
                <a:spcPts val="1982"/>
              </a:lnSpc>
            </a:pP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             ORDER BY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OnTime_Percentage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DESC) AS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OnTime_Rank</a:t>
            </a:r>
            <a:endParaRPr lang="en-US" sz="1490" b="1" spc="-41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1982"/>
              </a:lnSpc>
            </a:pP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FROM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agent_performance</a:t>
            </a:r>
            <a:endParaRPr lang="en-US" sz="1490" b="1" spc="-41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1982"/>
              </a:lnSpc>
            </a:pPr>
            <a:r>
              <a:rPr lang="en-US" sz="1490" b="1" spc="-41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ORDER BY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Route_ID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OnTime_Rank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3224" y="3106595"/>
            <a:ext cx="3535208" cy="68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 dirty="0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QUERY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5093" y="1626143"/>
            <a:ext cx="17474011" cy="2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3"/>
              </a:lnSpc>
            </a:pPr>
            <a:r>
              <a:rPr lang="en-US" sz="2100" dirty="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RANK DELIVERY AGENTS (PER ROUTE) BY ON-TIME DELIVERY PERCENTAGE.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3224" y="5644723"/>
            <a:ext cx="3535208" cy="56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74"/>
              </a:lnSpc>
            </a:pPr>
            <a:r>
              <a:rPr lang="en-US" sz="4489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-227757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191000" y="5297010"/>
            <a:ext cx="5519724" cy="4407207"/>
          </a:xfrm>
          <a:custGeom>
            <a:avLst/>
            <a:gdLst/>
            <a:ahLst/>
            <a:cxnLst/>
            <a:rect l="l" t="t" r="r" b="b"/>
            <a:pathLst>
              <a:path w="5752043" h="4677605">
                <a:moveTo>
                  <a:pt x="0" y="0"/>
                </a:moveTo>
                <a:lnTo>
                  <a:pt x="5752043" y="0"/>
                </a:lnTo>
                <a:lnTo>
                  <a:pt x="5752043" y="4677604"/>
                </a:lnTo>
                <a:lnTo>
                  <a:pt x="0" y="4677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220111"/>
            <a:ext cx="18288000" cy="808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7"/>
              </a:lnSpc>
            </a:pPr>
            <a:r>
              <a:rPr lang="en-US" sz="637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DELIVERY AGENT PERFORMANCE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36456" y="2270595"/>
            <a:ext cx="14182648" cy="2551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600" b="1" spc="-41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WITH</a:t>
            </a: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</a:t>
            </a:r>
            <a:r>
              <a:rPr lang="en-US" sz="160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agent_performance</a:t>
            </a: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AS ( SELECT </a:t>
            </a:r>
            <a:r>
              <a:rPr lang="en-US" sz="160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s.Route_ID</a:t>
            </a: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60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s.Agent_ID</a:t>
            </a: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COUNT(*) AS </a:t>
            </a:r>
            <a:r>
              <a:rPr lang="en-US" sz="160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Total_Shipments</a:t>
            </a: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  SUM(CASE WHEN </a:t>
            </a:r>
            <a:r>
              <a:rPr lang="en-US" sz="160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s.Delivery_Status</a:t>
            </a: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= 'Delivered' AND </a:t>
            </a:r>
            <a:r>
              <a:rPr lang="en-US" sz="160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s.Delay_Hours</a:t>
            </a: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&lt;= 0 THEN 1 ELSE 0 END) AS </a:t>
            </a:r>
            <a:r>
              <a:rPr lang="en-US" sz="160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OnTime_Shipments</a:t>
            </a: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ROUND(SUM(</a:t>
            </a:r>
            <a:r>
              <a:rPr lang="en-US" sz="1600" b="1" spc="-41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CASE WHEN </a:t>
            </a:r>
            <a:r>
              <a:rPr lang="en-US" sz="160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s.Delivery_Status</a:t>
            </a: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= 'Delivered'  AND </a:t>
            </a:r>
            <a:r>
              <a:rPr lang="en-US" sz="160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s.Delay_Hours</a:t>
            </a: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&lt;= 0 THEN 1 ELSE 0 END)/ COUNT(*) * 100, 2) AS </a:t>
            </a:r>
            <a:r>
              <a:rPr lang="en-US" sz="160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OnTime_Percentage</a:t>
            </a:r>
            <a:endParaRPr lang="en-US" sz="1600" b="1" spc="-41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1982"/>
              </a:lnSpc>
            </a:pP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FROM </a:t>
            </a:r>
            <a:r>
              <a:rPr lang="en-US" sz="160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fedex_shipments</a:t>
            </a: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s</a:t>
            </a:r>
          </a:p>
          <a:p>
            <a:pPr algn="l">
              <a:lnSpc>
                <a:spcPts val="1982"/>
              </a:lnSpc>
            </a:pP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GROUP BY </a:t>
            </a:r>
            <a:r>
              <a:rPr lang="en-US" sz="160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s.Route_ID</a:t>
            </a: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60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s.Agent_ID</a:t>
            </a: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)</a:t>
            </a:r>
          </a:p>
          <a:p>
            <a:pPr algn="l">
              <a:lnSpc>
                <a:spcPts val="1982"/>
              </a:lnSpc>
            </a:pPr>
            <a:endParaRPr lang="en-US" sz="1600" b="1" spc="-41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1982"/>
              </a:lnSpc>
            </a:pP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SELECT </a:t>
            </a:r>
            <a:r>
              <a:rPr lang="en-US" sz="160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Route_ID,Agent_ID,Total_Shipments</a:t>
            </a: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60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OnTime_Shipments</a:t>
            </a: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60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OnTime_Percentage,RANK</a:t>
            </a: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() </a:t>
            </a:r>
            <a:r>
              <a:rPr lang="en-US" sz="1600" b="1" spc="-41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OVER</a:t>
            </a: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(PARTITION BY </a:t>
            </a:r>
            <a:r>
              <a:rPr lang="en-US" sz="160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Route_ID</a:t>
            </a: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</a:t>
            </a:r>
          </a:p>
          <a:p>
            <a:pPr algn="l">
              <a:lnSpc>
                <a:spcPts val="1982"/>
              </a:lnSpc>
            </a:pP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             ORDER BY </a:t>
            </a:r>
            <a:r>
              <a:rPr lang="en-US" sz="160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OnTime_Percentage</a:t>
            </a: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DESC) AS </a:t>
            </a:r>
            <a:r>
              <a:rPr lang="en-US" sz="160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OnTime_Rank</a:t>
            </a:r>
            <a:endParaRPr lang="en-US" sz="1600" b="1" spc="-41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1982"/>
              </a:lnSpc>
            </a:pP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FROM </a:t>
            </a:r>
            <a:r>
              <a:rPr lang="en-US" sz="160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agent_performance</a:t>
            </a:r>
            <a:endParaRPr lang="en-US" sz="1600" b="1" spc="-41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1982"/>
              </a:lnSpc>
            </a:pP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ORDER BY </a:t>
            </a:r>
            <a:r>
              <a:rPr lang="en-US" sz="160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Route_ID</a:t>
            </a: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60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OnTime_Rank</a:t>
            </a:r>
            <a:r>
              <a:rPr lang="en-US" sz="160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3224" y="3106595"/>
            <a:ext cx="3535208" cy="68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QUERY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5093" y="1626143"/>
            <a:ext cx="17474011" cy="2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3"/>
              </a:lnSpc>
            </a:pPr>
            <a:r>
              <a:rPr lang="en-US" sz="210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AGENTS WHOSE ON-TIME % IS BELOW 85%.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3224" y="5644723"/>
            <a:ext cx="3535208" cy="56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74"/>
              </a:lnSpc>
            </a:pPr>
            <a:r>
              <a:rPr lang="en-US" sz="4489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OUTPUT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936456" y="2557035"/>
            <a:ext cx="14182648" cy="306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SELECT 'Top 5 Agents' AS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Category,ROUND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(AVG(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Avg_Rating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), 2) AS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Avg_Rating,ROUND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(AVG(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Experience_Years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), 2) AS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Avg_Experience</a:t>
            </a:r>
            <a:endParaRPr lang="en-US" sz="1490" b="1" spc="-41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1982"/>
              </a:lnSpc>
            </a:pP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FROM ( SELECT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Avg_Rating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Experience_Years</a:t>
            </a:r>
            <a:endParaRPr lang="en-US" sz="1490" b="1" spc="-41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1982"/>
              </a:lnSpc>
            </a:pP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FROM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fedex_delivery_agents</a:t>
            </a:r>
            <a:endParaRPr lang="en-US" sz="1490" b="1" spc="-41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1982"/>
              </a:lnSpc>
            </a:pP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ORDER BY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Avg_Rating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</a:t>
            </a:r>
            <a:r>
              <a:rPr lang="en-US" sz="1490" b="1" spc="-41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DESC</a:t>
            </a:r>
          </a:p>
          <a:p>
            <a:pPr algn="l">
              <a:lnSpc>
                <a:spcPts val="1982"/>
              </a:lnSpc>
            </a:pP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</a:t>
            </a:r>
            <a:r>
              <a:rPr lang="en-US" sz="1490" b="1" spc="-41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LIMIT 5) 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AS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TopAgents</a:t>
            </a:r>
            <a:endParaRPr lang="en-US" sz="1490" b="1" spc="-41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1982"/>
              </a:lnSpc>
            </a:pPr>
            <a:r>
              <a:rPr lang="en-US" sz="1490" b="1" spc="-41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UNION ALL</a:t>
            </a:r>
          </a:p>
          <a:p>
            <a:pPr algn="l">
              <a:lnSpc>
                <a:spcPts val="1982"/>
              </a:lnSpc>
            </a:pP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-- Bottom 5 Agents</a:t>
            </a:r>
          </a:p>
          <a:p>
            <a:pPr algn="l">
              <a:lnSpc>
                <a:spcPts val="1982"/>
              </a:lnSpc>
            </a:pP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SELECT 'Bottom 5 Agents' AS Category, ROUND(AVG(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Avg_Rating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), 2) AS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Avg_Rating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ROUND(AVG(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Experience_Years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), 2) AS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Avg_Experience</a:t>
            </a:r>
            <a:endParaRPr lang="en-US" sz="1490" b="1" spc="-41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1982"/>
              </a:lnSpc>
            </a:pP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FROM (SELECT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Avg_Rating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,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Experience_Years</a:t>
            </a:r>
            <a:endParaRPr lang="en-US" sz="1490" b="1" spc="-41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1982"/>
              </a:lnSpc>
            </a:pP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FROM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fedex_delivery_agents</a:t>
            </a:r>
            <a:endParaRPr lang="en-US" sz="1490" b="1" spc="-41" dirty="0">
              <a:solidFill>
                <a:srgbClr val="FFFFFF"/>
              </a:solidFill>
              <a:latin typeface="Roboto Mono Bold"/>
              <a:ea typeface="Roboto Mono Bold"/>
              <a:cs typeface="Roboto Mono Bold"/>
              <a:sym typeface="Roboto Mono Bold"/>
            </a:endParaRPr>
          </a:p>
          <a:p>
            <a:pPr algn="l">
              <a:lnSpc>
                <a:spcPts val="1982"/>
              </a:lnSpc>
            </a:pP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ORDER BY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Avg_Rating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</a:t>
            </a:r>
            <a:r>
              <a:rPr lang="en-US" sz="1490" b="1" spc="-41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ASC</a:t>
            </a:r>
          </a:p>
          <a:p>
            <a:pPr algn="l">
              <a:lnSpc>
                <a:spcPts val="1982"/>
              </a:lnSpc>
            </a:pP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</a:t>
            </a:r>
            <a:r>
              <a:rPr lang="en-US" sz="1490" b="1" spc="-41" dirty="0">
                <a:solidFill>
                  <a:srgbClr val="FFFF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LIMIT 5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) AS </a:t>
            </a:r>
            <a:r>
              <a:rPr lang="en-US" sz="1490" b="1" spc="-41" dirty="0" err="1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BottomAgents</a:t>
            </a:r>
            <a:r>
              <a:rPr lang="en-US" sz="1490" b="1" spc="-41" dirty="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;</a:t>
            </a:r>
          </a:p>
        </p:txBody>
      </p:sp>
      <p:sp>
        <p:nvSpPr>
          <p:cNvPr id="7" name="Freeform 7"/>
          <p:cNvSpPr/>
          <p:nvPr/>
        </p:nvSpPr>
        <p:spPr>
          <a:xfrm>
            <a:off x="4321509" y="6761698"/>
            <a:ext cx="7811086" cy="1532420"/>
          </a:xfrm>
          <a:custGeom>
            <a:avLst/>
            <a:gdLst/>
            <a:ahLst/>
            <a:cxnLst/>
            <a:rect l="l" t="t" r="r" b="b"/>
            <a:pathLst>
              <a:path w="7811086" h="1532420">
                <a:moveTo>
                  <a:pt x="0" y="0"/>
                </a:moveTo>
                <a:lnTo>
                  <a:pt x="7811086" y="0"/>
                </a:lnTo>
                <a:lnTo>
                  <a:pt x="7811086" y="1532420"/>
                </a:lnTo>
                <a:lnTo>
                  <a:pt x="0" y="1532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0" y="220111"/>
            <a:ext cx="18288000" cy="808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7"/>
              </a:lnSpc>
            </a:pPr>
            <a:r>
              <a:rPr lang="en-US" sz="637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DELIVERY AGENT PERFORMANCE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3224" y="3106595"/>
            <a:ext cx="3535208" cy="68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QUERY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5093" y="1626143"/>
            <a:ext cx="17474011" cy="2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3"/>
              </a:lnSpc>
            </a:pPr>
            <a:r>
              <a:rPr lang="en-US" sz="210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TOP 5 VS BOTTOM 5 AGENTS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3224" y="6535381"/>
            <a:ext cx="3535208" cy="56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74"/>
              </a:lnSpc>
            </a:pPr>
            <a:r>
              <a:rPr lang="en-US" sz="4489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OUTPUT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271540" y="5586711"/>
            <a:ext cx="3982373" cy="4355405"/>
          </a:xfrm>
          <a:custGeom>
            <a:avLst/>
            <a:gdLst/>
            <a:ahLst/>
            <a:cxnLst/>
            <a:rect l="l" t="t" r="r" b="b"/>
            <a:pathLst>
              <a:path w="3982373" h="4355405">
                <a:moveTo>
                  <a:pt x="0" y="0"/>
                </a:moveTo>
                <a:lnTo>
                  <a:pt x="3982373" y="0"/>
                </a:lnTo>
                <a:lnTo>
                  <a:pt x="3982373" y="4355405"/>
                </a:lnTo>
                <a:lnTo>
                  <a:pt x="0" y="43554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220111"/>
            <a:ext cx="18288000" cy="808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7"/>
              </a:lnSpc>
            </a:pPr>
            <a:r>
              <a:rPr lang="en-US" sz="637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SHIPMENT TRACKING ANALYTICS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5093" y="1626143"/>
            <a:ext cx="17474011" cy="51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3"/>
              </a:lnSpc>
            </a:pPr>
            <a:r>
              <a:rPr lang="en-US" sz="210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THE LATEST STATUS (DELIVERED, IN TRANSIT, OR RETURNED) ALONG WITH THE LATEST DELIVERY_DATE.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3224" y="3106595"/>
            <a:ext cx="3535208" cy="68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QUERY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3224" y="5488858"/>
            <a:ext cx="3535208" cy="56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74"/>
              </a:lnSpc>
            </a:pPr>
            <a:r>
              <a:rPr lang="en-US" sz="4489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OUTPUT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18432" y="2710796"/>
            <a:ext cx="13892386" cy="2746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SELECT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Route_ID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 COUNT(*) AS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Total_Shipments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SUM(CASE WHEN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Delivery_Status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= 'In Transit' THEN 1 ELSE 0 END) AS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InTransit_Count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SUM(CASE WHEN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Delivery_Status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= 'Returned' THEN 1 ELSE 0 END) AS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Returned_Count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SUM(CASE WHEN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Delivery_Status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IN ('In Transit', 'Returned') THEN 1 ELSE 0 END) AS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Problem_Count</a:t>
            </a:r>
            <a:endParaRPr lang="en-US" sz="18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FROM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fedex_shipments</a:t>
            </a:r>
            <a:endParaRPr lang="en-US" sz="18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GROUP BY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Route_ID</a:t>
            </a:r>
            <a:endParaRPr lang="en-US" sz="18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00"/>
                </a:solidFill>
                <a:latin typeface="Canva Sans"/>
                <a:ea typeface="Canva Sans"/>
                <a:cs typeface="Canva Sans"/>
                <a:sym typeface="Canva Sans"/>
              </a:rPr>
              <a:t>HAVING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Problem_Count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&gt; (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Total_Shipments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/ 2)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00"/>
                </a:solidFill>
                <a:latin typeface="Canva Sans"/>
                <a:ea typeface="Canva Sans"/>
                <a:cs typeface="Canva Sans"/>
                <a:sym typeface="Canva Sans"/>
              </a:rPr>
              <a:t>ORDER BY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Problem_Count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DESC;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0" y="220111"/>
            <a:ext cx="18288000" cy="808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7"/>
              </a:lnSpc>
            </a:pPr>
            <a:r>
              <a:rPr lang="en-US" sz="637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SHIPMENT TRACKING ANALYTICS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85858" y="6686550"/>
            <a:ext cx="17474011" cy="2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3"/>
              </a:lnSpc>
            </a:pPr>
            <a:r>
              <a:rPr lang="en-US" sz="210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THE OUTPUT RETURNS ONLY HEADERS , SO THERE IS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3224" y="3106595"/>
            <a:ext cx="3535208" cy="68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QUERY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3224" y="5488858"/>
            <a:ext cx="3535208" cy="56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74"/>
              </a:lnSpc>
            </a:pPr>
            <a:r>
              <a:rPr lang="en-US" sz="4489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OUTPUT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26718" y="2486660"/>
            <a:ext cx="13892386" cy="2746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SELECT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Route_ID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 COUNT(*) AS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Total_Shipments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SUM(</a:t>
            </a:r>
            <a:r>
              <a:rPr lang="en-US" sz="1899" dirty="0">
                <a:solidFill>
                  <a:srgbClr val="FFFF00"/>
                </a:solidFill>
                <a:latin typeface="Canva Sans"/>
                <a:ea typeface="Canva Sans"/>
                <a:cs typeface="Canva Sans"/>
                <a:sym typeface="Canva Sans"/>
              </a:rPr>
              <a:t>CASE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WHEN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Delivery_Status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= 'In Transit' THEN 1 ELSE 0 END) AS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InTransit_Count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SUM(</a:t>
            </a:r>
            <a:r>
              <a:rPr lang="en-US" sz="1899" dirty="0">
                <a:solidFill>
                  <a:srgbClr val="FFFF00"/>
                </a:solidFill>
                <a:latin typeface="Canva Sans"/>
                <a:ea typeface="Canva Sans"/>
                <a:cs typeface="Canva Sans"/>
                <a:sym typeface="Canva Sans"/>
              </a:rPr>
              <a:t>CASE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WHEN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Delivery_Status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= 'Returned' THEN 1 ELSE 0 END) AS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Returned_Count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SUM(</a:t>
            </a:r>
            <a:r>
              <a:rPr lang="en-US" sz="1899" dirty="0">
                <a:solidFill>
                  <a:srgbClr val="FFFF00"/>
                </a:solidFill>
                <a:latin typeface="Canva Sans"/>
                <a:ea typeface="Canva Sans"/>
                <a:cs typeface="Canva Sans"/>
                <a:sym typeface="Canva Sans"/>
              </a:rPr>
              <a:t>CASE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WHEN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Delivery_Status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IN ('In Transit', 'Returned') THEN 1 ELSE 0 END) AS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Problem_Count</a:t>
            </a:r>
            <a:endParaRPr lang="en-US" sz="18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FROM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fedex_shipments</a:t>
            </a:r>
            <a:endParaRPr lang="en-US" sz="18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GROUP BY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Route_ID</a:t>
            </a:r>
            <a:endParaRPr lang="en-US" sz="18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HAVING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Problem_Count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&gt; (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Total_Shipments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/ 2)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ORDER BY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Problem_Count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DESC;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5093" y="1626143"/>
            <a:ext cx="17474011" cy="2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3"/>
              </a:lnSpc>
            </a:pPr>
            <a:r>
              <a:rPr lang="en-US" sz="210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ROUTES WHERE THE MAJORITY OF SHIPMENTS ARE STILL “IN TRANSIT” OR “RETURNED”.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513494" y="5715175"/>
            <a:ext cx="7297324" cy="4431819"/>
          </a:xfrm>
          <a:custGeom>
            <a:avLst/>
            <a:gdLst/>
            <a:ahLst/>
            <a:cxnLst/>
            <a:rect l="l" t="t" r="r" b="b"/>
            <a:pathLst>
              <a:path w="7297324" h="4431819">
                <a:moveTo>
                  <a:pt x="0" y="0"/>
                </a:moveTo>
                <a:lnTo>
                  <a:pt x="7297324" y="0"/>
                </a:lnTo>
                <a:lnTo>
                  <a:pt x="7297324" y="4431819"/>
                </a:lnTo>
                <a:lnTo>
                  <a:pt x="0" y="4431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570088" y="6211364"/>
            <a:ext cx="5056942" cy="2311180"/>
          </a:xfrm>
          <a:custGeom>
            <a:avLst/>
            <a:gdLst/>
            <a:ahLst/>
            <a:cxnLst/>
            <a:rect l="l" t="t" r="r" b="b"/>
            <a:pathLst>
              <a:path w="5056942" h="2311180">
                <a:moveTo>
                  <a:pt x="0" y="0"/>
                </a:moveTo>
                <a:lnTo>
                  <a:pt x="5056942" y="0"/>
                </a:lnTo>
                <a:lnTo>
                  <a:pt x="5056942" y="2311180"/>
                </a:lnTo>
                <a:lnTo>
                  <a:pt x="0" y="23111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0" y="220111"/>
            <a:ext cx="18288000" cy="808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7"/>
              </a:lnSpc>
            </a:pPr>
            <a:r>
              <a:rPr lang="en-US" sz="637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SHIPMENT TRACKING ANALYTICS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5093" y="1626143"/>
            <a:ext cx="17474011" cy="2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3"/>
              </a:lnSpc>
            </a:pPr>
            <a:r>
              <a:rPr lang="en-US" sz="210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THE MOST FREQUENT DELAY REASONS (IF AVAILABLE IN DELAY-RELATED COLUMNS OR FLAGS).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3224" y="3106595"/>
            <a:ext cx="3535208" cy="68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QUERY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3224" y="5488858"/>
            <a:ext cx="3535208" cy="56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74"/>
              </a:lnSpc>
            </a:pPr>
            <a:r>
              <a:rPr lang="en-US" sz="4489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OUTPUT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19228" y="2773397"/>
            <a:ext cx="12044270" cy="2053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SELECT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Delay_Reason,COUNT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(*) AS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Reason_Count</a:t>
            </a:r>
            <a:endParaRPr lang="en-US" sz="18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FROM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fedex_shipments</a:t>
            </a:r>
            <a:endParaRPr lang="en-US" sz="18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00"/>
                </a:solidFill>
                <a:latin typeface="Canva Sans"/>
                <a:ea typeface="Canva Sans"/>
                <a:cs typeface="Canva Sans"/>
                <a:sym typeface="Canva Sans"/>
              </a:rPr>
              <a:t>WHERE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Delay_Reason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IS NOT NULL 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AND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Delay_Reason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&lt;&gt; ''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GROUP BY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Delay_Reason</a:t>
            </a:r>
            <a:endParaRPr lang="en-US" sz="18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00"/>
                </a:solidFill>
                <a:latin typeface="Canva Sans"/>
                <a:ea typeface="Canva Sans"/>
                <a:cs typeface="Canva Sans"/>
                <a:sym typeface="Canva Sans"/>
              </a:rPr>
              <a:t>ORDER BY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Reason_Count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DESC;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226718" y="5514321"/>
            <a:ext cx="8793837" cy="4506841"/>
          </a:xfrm>
          <a:custGeom>
            <a:avLst/>
            <a:gdLst/>
            <a:ahLst/>
            <a:cxnLst/>
            <a:rect l="l" t="t" r="r" b="b"/>
            <a:pathLst>
              <a:path w="8793837" h="4506841">
                <a:moveTo>
                  <a:pt x="0" y="0"/>
                </a:moveTo>
                <a:lnTo>
                  <a:pt x="8793837" y="0"/>
                </a:lnTo>
                <a:lnTo>
                  <a:pt x="8793837" y="4506841"/>
                </a:lnTo>
                <a:lnTo>
                  <a:pt x="0" y="45068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220111"/>
            <a:ext cx="18288000" cy="808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7"/>
              </a:lnSpc>
            </a:pPr>
            <a:r>
              <a:rPr lang="en-US" sz="637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SHIPMENT TRACKING ANALYTICS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5093" y="1626143"/>
            <a:ext cx="17474011" cy="51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3"/>
              </a:lnSpc>
            </a:pPr>
            <a:r>
              <a:rPr lang="en-US" sz="210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ORDERS WITH EXCEPTIONALLY HIGH DELAY (&gt;120 HOURS) TO INVESTIGATE POTENTIAL BOTTLENECKS.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3224" y="3106595"/>
            <a:ext cx="3535208" cy="68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QUERY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3224" y="5488858"/>
            <a:ext cx="3535208" cy="56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74"/>
              </a:lnSpc>
            </a:pPr>
            <a:r>
              <a:rPr lang="en-US" sz="4489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OUTPUT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26718" y="2935145"/>
            <a:ext cx="13892386" cy="165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SELECT s.Shipment_ID,s.Order_ID,s.Warehouse_ID, s.Agent_ID,s.Route_ID, s.Delay_Hours,s.Delivery_Status,s.Delay_Reason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FROM fedex_shipments 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WHERE s.Delay_Hours &gt; 120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ORDER BY s.Delay_Hours DESC;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-218882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537867" y="5374558"/>
            <a:ext cx="3273432" cy="4538694"/>
          </a:xfrm>
          <a:custGeom>
            <a:avLst/>
            <a:gdLst/>
            <a:ahLst/>
            <a:cxnLst/>
            <a:rect l="l" t="t" r="r" b="b"/>
            <a:pathLst>
              <a:path w="3273432" h="4538694">
                <a:moveTo>
                  <a:pt x="0" y="0"/>
                </a:moveTo>
                <a:lnTo>
                  <a:pt x="3273432" y="0"/>
                </a:lnTo>
                <a:lnTo>
                  <a:pt x="3273432" y="4538694"/>
                </a:lnTo>
                <a:lnTo>
                  <a:pt x="0" y="4538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329313" y="4338706"/>
            <a:ext cx="7929987" cy="5574546"/>
          </a:xfrm>
          <a:custGeom>
            <a:avLst/>
            <a:gdLst/>
            <a:ahLst/>
            <a:cxnLst/>
            <a:rect l="l" t="t" r="r" b="b"/>
            <a:pathLst>
              <a:path w="7929987" h="5574546">
                <a:moveTo>
                  <a:pt x="0" y="0"/>
                </a:moveTo>
                <a:lnTo>
                  <a:pt x="7929987" y="0"/>
                </a:lnTo>
                <a:lnTo>
                  <a:pt x="7929987" y="5574546"/>
                </a:lnTo>
                <a:lnTo>
                  <a:pt x="0" y="5574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0" y="220111"/>
            <a:ext cx="18288000" cy="808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7"/>
              </a:lnSpc>
            </a:pPr>
            <a:r>
              <a:rPr lang="en-US" sz="637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ADVANCED KPI REPORTING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5093" y="1626143"/>
            <a:ext cx="17474011" cy="2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3"/>
              </a:lnSpc>
            </a:pPr>
            <a:r>
              <a:rPr lang="en-US" sz="210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AVERAGE DELIVERY DELAY PER SOURCE_COUNTRY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3224" y="3106595"/>
            <a:ext cx="3535208" cy="68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 dirty="0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QUERY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3224" y="5488858"/>
            <a:ext cx="3535208" cy="56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74"/>
              </a:lnSpc>
            </a:pPr>
            <a:r>
              <a:rPr lang="en-US" sz="4489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OUTPUT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26718" y="2307496"/>
            <a:ext cx="13892386" cy="232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SELECT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r.Source_Country,ROUND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(AVG(CASE WHEN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s.Delay_Hours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IS NULL THEN 0 ELSE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s.Delay_Hours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END), 2) AS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Avg_Delay_Hours</a:t>
            </a:r>
            <a:endParaRPr lang="en-US" sz="18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FROM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fedex_shipments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JOIN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fedex_routes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 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ON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s.Route_ID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=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r.Route_ID</a:t>
            </a:r>
            <a:endParaRPr lang="en-US" sz="18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GROUP BY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r.Source_Country</a:t>
            </a:r>
            <a:endParaRPr lang="en-US" sz="18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ORDER BY </a:t>
            </a:r>
            <a:r>
              <a:rPr lang="en-US" sz="18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Avg_Delay_Hours</a:t>
            </a: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DESC;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631295" y="4697538"/>
            <a:ext cx="9025409" cy="2059741"/>
          </a:xfrm>
          <a:custGeom>
            <a:avLst/>
            <a:gdLst/>
            <a:ahLst/>
            <a:cxnLst/>
            <a:rect l="l" t="t" r="r" b="b"/>
            <a:pathLst>
              <a:path w="9025409" h="2059741">
                <a:moveTo>
                  <a:pt x="0" y="0"/>
                </a:moveTo>
                <a:lnTo>
                  <a:pt x="9025410" y="0"/>
                </a:lnTo>
                <a:lnTo>
                  <a:pt x="9025410" y="2059740"/>
                </a:lnTo>
                <a:lnTo>
                  <a:pt x="0" y="20597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220111"/>
            <a:ext cx="18288000" cy="808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7"/>
              </a:lnSpc>
            </a:pPr>
            <a:r>
              <a:rPr lang="en-US" sz="637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ADVANCED KPI REPORTING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5093" y="1626143"/>
            <a:ext cx="17474011" cy="2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3"/>
              </a:lnSpc>
            </a:pPr>
            <a:r>
              <a:rPr lang="en-US" sz="210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ON-TIME DELIVERY % = (TOTAL ON-TIME DELIVERIES / TOTAL DELIVERIES) * 100.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3224" y="2438601"/>
            <a:ext cx="3535208" cy="68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QUERY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3224" y="4130603"/>
            <a:ext cx="3535208" cy="56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74"/>
              </a:lnSpc>
            </a:pPr>
            <a:r>
              <a:rPr lang="en-US" sz="4489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OUTPUT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26718" y="2455585"/>
            <a:ext cx="13892386" cy="989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SELECT ROUND(SUM( CASE WHEN s.Delay_Hours &lt;= 0 THEN 1 ELSE 0 END)/ COUNT(*) * 100, 2) AS On_Time_Delivery_Percentage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FROM fedex_shipments s;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8684909" y="5374558"/>
            <a:ext cx="6673154" cy="4494936"/>
          </a:xfrm>
          <a:custGeom>
            <a:avLst/>
            <a:gdLst/>
            <a:ahLst/>
            <a:cxnLst/>
            <a:rect l="l" t="t" r="r" b="b"/>
            <a:pathLst>
              <a:path w="6673154" h="4494936">
                <a:moveTo>
                  <a:pt x="0" y="0"/>
                </a:moveTo>
                <a:lnTo>
                  <a:pt x="6673154" y="0"/>
                </a:lnTo>
                <a:lnTo>
                  <a:pt x="6673154" y="4494935"/>
                </a:lnTo>
                <a:lnTo>
                  <a:pt x="0" y="4494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694069" y="4620841"/>
            <a:ext cx="2665253" cy="5589269"/>
          </a:xfrm>
          <a:custGeom>
            <a:avLst/>
            <a:gdLst/>
            <a:ahLst/>
            <a:cxnLst/>
            <a:rect l="l" t="t" r="r" b="b"/>
            <a:pathLst>
              <a:path w="2665253" h="5589269">
                <a:moveTo>
                  <a:pt x="0" y="0"/>
                </a:moveTo>
                <a:lnTo>
                  <a:pt x="2665253" y="0"/>
                </a:lnTo>
                <a:lnTo>
                  <a:pt x="2665253" y="5589269"/>
                </a:lnTo>
                <a:lnTo>
                  <a:pt x="0" y="5589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0" y="220111"/>
            <a:ext cx="18288000" cy="808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7"/>
              </a:lnSpc>
            </a:pPr>
            <a:r>
              <a:rPr lang="en-US" sz="637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ADVANCED KPI REPORTING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5093" y="1626143"/>
            <a:ext cx="17474011" cy="2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3"/>
              </a:lnSpc>
            </a:pPr>
            <a:r>
              <a:rPr lang="en-US" sz="210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AVERAGE DELAY (IN HOURS) PER ROUTE_ID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3224" y="3106595"/>
            <a:ext cx="3535208" cy="68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QUERY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3224" y="5488858"/>
            <a:ext cx="3535208" cy="56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74"/>
              </a:lnSpc>
            </a:pPr>
            <a:r>
              <a:rPr lang="en-US" sz="4489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OUTPUT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26718" y="2935145"/>
            <a:ext cx="13892386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SELECT Route_ID,ROUND(AVG(CASE WHEN Delay_Hours IS NULL THEN 0 ELSE Delay_Hours END), 2) AS Avg_Delay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FROM fedex_shipments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GROUP BY Route_ID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ORDER BY Avg_Delay DESC;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866474" y="6764252"/>
            <a:ext cx="8620829" cy="3243108"/>
          </a:xfrm>
          <a:custGeom>
            <a:avLst/>
            <a:gdLst/>
            <a:ahLst/>
            <a:cxnLst/>
            <a:rect l="l" t="t" r="r" b="b"/>
            <a:pathLst>
              <a:path w="8620829" h="3243108">
                <a:moveTo>
                  <a:pt x="0" y="0"/>
                </a:moveTo>
                <a:lnTo>
                  <a:pt x="8620828" y="0"/>
                </a:lnTo>
                <a:lnTo>
                  <a:pt x="8620828" y="3243108"/>
                </a:lnTo>
                <a:lnTo>
                  <a:pt x="0" y="32431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61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772913" y="5927008"/>
            <a:ext cx="7515087" cy="4359992"/>
          </a:xfrm>
          <a:custGeom>
            <a:avLst/>
            <a:gdLst/>
            <a:ahLst/>
            <a:cxnLst/>
            <a:rect l="l" t="t" r="r" b="b"/>
            <a:pathLst>
              <a:path w="7515087" h="4359992">
                <a:moveTo>
                  <a:pt x="0" y="0"/>
                </a:moveTo>
                <a:lnTo>
                  <a:pt x="7515087" y="0"/>
                </a:lnTo>
                <a:lnTo>
                  <a:pt x="7515087" y="4359992"/>
                </a:lnTo>
                <a:lnTo>
                  <a:pt x="0" y="43599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0" y="220111"/>
            <a:ext cx="18288000" cy="808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7"/>
              </a:lnSpc>
            </a:pPr>
            <a:r>
              <a:rPr lang="en-US" sz="637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ADVANCED KPI REPORTING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5093" y="1626143"/>
            <a:ext cx="17474011" cy="2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3"/>
              </a:lnSpc>
            </a:pPr>
            <a:r>
              <a:rPr lang="en-US" sz="210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WAREHOUSE UTILIZATION % = (SHIPMENTS_HANDLED / CAPACITY_PER_DAY) * 100.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3224" y="3106595"/>
            <a:ext cx="3535208" cy="68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QUERY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3224" y="5844892"/>
            <a:ext cx="3535208" cy="56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74"/>
              </a:lnSpc>
            </a:pPr>
            <a:r>
              <a:rPr lang="en-US" sz="4489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OUTPUT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26718" y="2384342"/>
            <a:ext cx="13892386" cy="299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SELECT w.Warehouse_ID,w.Capacity_per_day, SUM(CASE WHEN s.Shipment_ID IS NOT NULL THEN 1 ELSE 0 END) AS Shipments_Handled,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ROUND(SUM(CASE WHEN s.Shipment_ID IS NOT NULL THEN 1 ELSE 0 END)/ w.Capacity_per_day * 100,2) AS Warehouse_Utilization_Percentage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FROM fedex_warehouses w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LEFT JOIN fedex_shipments 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ON w.Warehouse_ID = s.Warehouse_ID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GROUP BY w.Warehouse_ID, w.Capacity_per_day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ORDER BY Warehouse_Utilization_Percentage DESC;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0" y="220111"/>
            <a:ext cx="18288000" cy="808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7"/>
              </a:lnSpc>
            </a:pPr>
            <a:r>
              <a:rPr lang="en-US" sz="637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OVERALL RECOMMENDATION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5093" y="1626143"/>
            <a:ext cx="17474011" cy="2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53"/>
              </a:lnSpc>
            </a:pPr>
            <a:r>
              <a:rPr lang="en-US" sz="2100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WAREHOUSE UTILIZATION % = (SHIPMENTS_HANDLED / CAPACITY_PER_DAY) * 100.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545877"/>
            <a:ext cx="16230600" cy="5894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28"/>
              </a:lnSpc>
            </a:pPr>
            <a:r>
              <a:rPr lang="en-US" sz="35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FedEx can significantly improve delivery performance by:</a:t>
            </a:r>
          </a:p>
          <a:p>
            <a:pPr algn="just">
              <a:lnSpc>
                <a:spcPts val="3328"/>
              </a:lnSpc>
            </a:pPr>
            <a:endParaRPr lang="en-US" sz="357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72800" lvl="1" indent="-386400" algn="just">
              <a:lnSpc>
                <a:spcPts val="3328"/>
              </a:lnSpc>
              <a:buFont typeface="Arial"/>
              <a:buChar char="•"/>
            </a:pPr>
            <a:r>
              <a:rPr lang="en-US" sz="35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Optimizing underperforming routes (R003, R015, R008) through load balancing &amp; path redesign.</a:t>
            </a:r>
          </a:p>
          <a:p>
            <a:pPr marL="772800" lvl="1" indent="-386400" algn="just">
              <a:lnSpc>
                <a:spcPts val="3328"/>
              </a:lnSpc>
              <a:buFont typeface="Arial"/>
              <a:buChar char="•"/>
            </a:pPr>
            <a:r>
              <a:rPr lang="en-US" sz="35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Strengthening warehouse operations, especially for W004, W003, and W008.</a:t>
            </a:r>
          </a:p>
          <a:p>
            <a:pPr marL="772800" lvl="1" indent="-386400" algn="just">
              <a:lnSpc>
                <a:spcPts val="3328"/>
              </a:lnSpc>
              <a:buFont typeface="Arial"/>
              <a:buChar char="•"/>
            </a:pPr>
            <a:r>
              <a:rPr lang="en-US" sz="35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Training and redistributing workload among low-performing delivery agents.</a:t>
            </a:r>
          </a:p>
          <a:p>
            <a:pPr marL="772800" lvl="1" indent="-386400" algn="just">
              <a:lnSpc>
                <a:spcPts val="3328"/>
              </a:lnSpc>
              <a:buFont typeface="Arial"/>
              <a:buChar char="•"/>
            </a:pPr>
            <a:r>
              <a:rPr lang="en-US" sz="35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Addressing major delay drivers (traffic, weather, technical issues) using predictive analytics.</a:t>
            </a:r>
          </a:p>
          <a:p>
            <a:pPr marL="772800" lvl="1" indent="-386400" algn="just">
              <a:lnSpc>
                <a:spcPts val="3328"/>
              </a:lnSpc>
              <a:buFont typeface="Arial"/>
              <a:buChar char="•"/>
            </a:pPr>
            <a:r>
              <a:rPr lang="en-US" sz="35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Enhancing operational transparency through KPI dashboards and monitoring tools.</a:t>
            </a:r>
          </a:p>
          <a:p>
            <a:pPr algn="just">
              <a:lnSpc>
                <a:spcPts val="3328"/>
              </a:lnSpc>
            </a:pPr>
            <a:endParaRPr lang="en-US" sz="357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3328"/>
              </a:lnSpc>
            </a:pPr>
            <a:endParaRPr lang="en-US" sz="357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53029" y="4503976"/>
            <a:ext cx="3381943" cy="782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6"/>
              </a:lnSpc>
              <a:spcBef>
                <a:spcPct val="0"/>
              </a:spcBef>
            </a:pPr>
            <a:r>
              <a:rPr lang="en-US" sz="46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2872</Words>
  <Application>Microsoft Office PowerPoint</Application>
  <PresentationFormat>Custom</PresentationFormat>
  <Paragraphs>273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Roboto Mono</vt:lpstr>
      <vt:lpstr>Roboto Mono Bold</vt:lpstr>
      <vt:lpstr>Zen Dots</vt:lpstr>
      <vt:lpstr>Poppins</vt:lpstr>
      <vt:lpstr>Canva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Data Analysis Presentation</dc:title>
  <cp:lastModifiedBy>Senthamil Selvan M</cp:lastModifiedBy>
  <cp:revision>3</cp:revision>
  <dcterms:created xsi:type="dcterms:W3CDTF">2006-08-16T00:00:00Z</dcterms:created>
  <dcterms:modified xsi:type="dcterms:W3CDTF">2025-12-11T06:12:02Z</dcterms:modified>
  <dc:identifier>DAG6_amF87w</dc:identifier>
</cp:coreProperties>
</file>